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6" d="100"/>
          <a:sy n="96" d="100"/>
        </p:scale>
        <p:origin x="149"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4265583"/>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4.jpeg"/><Relationship Id="rId4" Type="http://schemas.openxmlformats.org/officeDocument/2006/relationships/image" Target="../media/image3.jpeg"/></Relationships>
</file>

<file path=ppt/slides/_rels/slide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6.jpe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10180015" y="-1463040"/>
            <a:ext cx="3840480" cy="3840480"/>
          </a:xfrm>
          <a:prstGeom prst="ellipse">
            <a:avLst/>
          </a:prstGeom>
          <a:solidFill>
            <a:srgbClr val="FFFFFF">
              <a:alpha val="6000"/>
            </a:srgbClr>
          </a:solidFill>
          <a:ln/>
        </p:spPr>
      </p:sp>
      <p:sp>
        <p:nvSpPr>
          <p:cNvPr id="3" name="Shape 1"/>
          <p:cNvSpPr/>
          <p:nvPr/>
        </p:nvSpPr>
        <p:spPr>
          <a:xfrm>
            <a:off x="-1280160" y="5029200"/>
            <a:ext cx="2926080" cy="2926080"/>
          </a:xfrm>
          <a:prstGeom prst="ellipse">
            <a:avLst/>
          </a:prstGeom>
          <a:solidFill>
            <a:srgbClr val="FFFFFF">
              <a:alpha val="6000"/>
            </a:srgbClr>
          </a:solidFill>
          <a:ln/>
        </p:spPr>
      </p:sp>
      <p:sp>
        <p:nvSpPr>
          <p:cNvPr id="4" name="Shape 2"/>
          <p:cNvSpPr/>
          <p:nvPr/>
        </p:nvSpPr>
        <p:spPr>
          <a:xfrm>
            <a:off x="1889608" y="1417320"/>
            <a:ext cx="128016" cy="128016"/>
          </a:xfrm>
          <a:prstGeom prst="ellipse">
            <a:avLst/>
          </a:prstGeom>
          <a:solidFill>
            <a:srgbClr val="C9A227"/>
          </a:solidFill>
          <a:ln/>
        </p:spPr>
      </p:sp>
      <p:sp>
        <p:nvSpPr>
          <p:cNvPr id="5" name="Text 3"/>
          <p:cNvSpPr/>
          <p:nvPr/>
        </p:nvSpPr>
        <p:spPr>
          <a:xfrm>
            <a:off x="0" y="2331720"/>
            <a:ext cx="12191695" cy="457200"/>
          </a:xfrm>
          <a:prstGeom prst="rect">
            <a:avLst/>
          </a:prstGeom>
          <a:noFill/>
          <a:ln/>
        </p:spPr>
        <p:txBody>
          <a:bodyPr wrap="square" lIns="0" tIns="0" rIns="0" bIns="0" rtlCol="0" anchor="ctr"/>
          <a:lstStyle/>
          <a:p>
            <a:pPr marL="0" indent="0" algn="ctr">
              <a:buNone/>
            </a:pPr>
            <a:r>
              <a:rPr lang="en-US" sz="1600" kern="0" spc="400" dirty="0">
                <a:solidFill>
                  <a:srgbClr val="CADCFC"/>
                </a:solidFill>
                <a:latin typeface="Calibri" pitchFamily="34" charset="0"/>
                <a:ea typeface="Calibri" pitchFamily="34" charset="-122"/>
                <a:cs typeface="Calibri" pitchFamily="34" charset="-120"/>
              </a:rPr>
              <a:t>DATABASE PROJECT</a:t>
            </a:r>
            <a:endParaRPr lang="en-US" sz="1600" dirty="0"/>
          </a:p>
        </p:txBody>
      </p:sp>
      <p:sp>
        <p:nvSpPr>
          <p:cNvPr id="6" name="Text 4"/>
          <p:cNvSpPr/>
          <p:nvPr/>
        </p:nvSpPr>
        <p:spPr>
          <a:xfrm>
            <a:off x="0" y="2788920"/>
            <a:ext cx="12191695" cy="1005840"/>
          </a:xfrm>
          <a:prstGeom prst="rect">
            <a:avLst/>
          </a:prstGeom>
          <a:noFill/>
          <a:ln/>
        </p:spPr>
        <p:txBody>
          <a:bodyPr wrap="square" lIns="0" tIns="0" rIns="0" bIns="0" rtlCol="0" anchor="ctr"/>
          <a:lstStyle/>
          <a:p>
            <a:pPr marL="0" indent="0" algn="ctr">
              <a:buNone/>
            </a:pPr>
            <a:r>
              <a:rPr lang="en-US" sz="5400" b="1" dirty="0">
                <a:solidFill>
                  <a:srgbClr val="FFFFFF"/>
                </a:solidFill>
                <a:latin typeface="Cambria" pitchFamily="34" charset="0"/>
                <a:ea typeface="Cambria" pitchFamily="34" charset="-122"/>
                <a:cs typeface="Cambria" pitchFamily="34" charset="-120"/>
              </a:rPr>
              <a:t>Library System</a:t>
            </a:r>
            <a:endParaRPr lang="en-US" sz="5400" dirty="0"/>
          </a:p>
        </p:txBody>
      </p:sp>
      <p:sp>
        <p:nvSpPr>
          <p:cNvPr id="7" name="Shape 5"/>
          <p:cNvSpPr/>
          <p:nvPr/>
        </p:nvSpPr>
        <p:spPr>
          <a:xfrm>
            <a:off x="5181448" y="3794760"/>
            <a:ext cx="1828800" cy="0"/>
          </a:xfrm>
          <a:prstGeom prst="line">
            <a:avLst/>
          </a:prstGeom>
          <a:noFill/>
          <a:ln w="19050">
            <a:solidFill>
              <a:srgbClr val="C9A227"/>
            </a:solidFill>
            <a:prstDash val="solid"/>
          </a:ln>
        </p:spPr>
      </p:sp>
      <p:sp>
        <p:nvSpPr>
          <p:cNvPr id="8" name="Text 6"/>
          <p:cNvSpPr/>
          <p:nvPr/>
        </p:nvSpPr>
        <p:spPr>
          <a:xfrm>
            <a:off x="0" y="3977640"/>
            <a:ext cx="12191695" cy="457200"/>
          </a:xfrm>
          <a:prstGeom prst="rect">
            <a:avLst/>
          </a:prstGeom>
          <a:noFill/>
          <a:ln/>
        </p:spPr>
        <p:txBody>
          <a:bodyPr wrap="square" lIns="0" tIns="0" rIns="0" bIns="0" rtlCol="0" anchor="ctr"/>
          <a:lstStyle/>
          <a:p>
            <a:pPr marL="0" indent="0" algn="ctr">
              <a:buNone/>
            </a:pPr>
            <a:r>
              <a:rPr lang="en-US" sz="1600" dirty="0">
                <a:solidFill>
                  <a:srgbClr val="CADCFC"/>
                </a:solidFill>
                <a:latin typeface="Calibri" pitchFamily="34" charset="0"/>
                <a:ea typeface="Calibri" pitchFamily="34" charset="-122"/>
                <a:cs typeface="Calibri" pitchFamily="34" charset="-120"/>
              </a:rPr>
              <a:t>A Library Management Database built with Microsoft Access</a:t>
            </a:r>
            <a:endParaRPr lang="en-US" sz="1600" dirty="0"/>
          </a:p>
        </p:txBody>
      </p:sp>
      <p:sp>
        <p:nvSpPr>
          <p:cNvPr id="9" name="Text 7"/>
          <p:cNvSpPr/>
          <p:nvPr/>
        </p:nvSpPr>
        <p:spPr>
          <a:xfrm>
            <a:off x="0" y="5806440"/>
            <a:ext cx="12191695"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Prepared by: Aseel Alanazi</a:t>
            </a:r>
            <a:endParaRPr lang="en-US" sz="1400" dirty="0"/>
          </a:p>
        </p:txBody>
      </p:sp>
      <p:sp>
        <p:nvSpPr>
          <p:cNvPr id="10" name="Text 8"/>
          <p:cNvSpPr/>
          <p:nvPr/>
        </p:nvSpPr>
        <p:spPr>
          <a:xfrm>
            <a:off x="0" y="6144768"/>
            <a:ext cx="12191695" cy="320040"/>
          </a:xfrm>
          <a:prstGeom prst="rect">
            <a:avLst/>
          </a:prstGeom>
          <a:noFill/>
          <a:ln/>
        </p:spPr>
        <p:txBody>
          <a:bodyPr wrap="square" lIns="0" tIns="0" rIns="0" bIns="0" rtlCol="0" anchor="ctr"/>
          <a:lstStyle/>
          <a:p>
            <a:pPr marL="0" indent="0" algn="ctr">
              <a:buNone/>
            </a:pPr>
            <a:r>
              <a:rPr lang="en-US" sz="1100" dirty="0">
                <a:solidFill>
                  <a:srgbClr val="9AA6D6"/>
                </a:solidFill>
                <a:latin typeface="Calibri" pitchFamily="34" charset="0"/>
                <a:ea typeface="Calibri" pitchFamily="34" charset="-122"/>
                <a:cs typeface="Calibri" pitchFamily="34" charset="-120"/>
              </a:rPr>
              <a:t>Department of Computer Science  |  University of Hail</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180015" y="-1463040"/>
            <a:ext cx="3840480" cy="3840480"/>
          </a:xfrm>
          <a:prstGeom prst="ellipse">
            <a:avLst/>
          </a:prstGeom>
          <a:solidFill>
            <a:srgbClr val="CADCFC">
              <a:alpha val="60000"/>
            </a:srgbClr>
          </a:solidFill>
          <a:ln/>
        </p:spPr>
      </p:sp>
      <p:sp>
        <p:nvSpPr>
          <p:cNvPr id="3" name="Shape 1"/>
          <p:cNvSpPr/>
          <p:nvPr/>
        </p:nvSpPr>
        <p:spPr>
          <a:xfrm>
            <a:off x="-1280160" y="5029200"/>
            <a:ext cx="2926080" cy="2926080"/>
          </a:xfrm>
          <a:prstGeom prst="ellipse">
            <a:avLst/>
          </a:prstGeom>
          <a:solidFill>
            <a:srgbClr val="CADCFC">
              <a:alpha val="60000"/>
            </a:srgbClr>
          </a:solidFill>
          <a:ln/>
        </p:spPr>
      </p:sp>
      <p:sp>
        <p:nvSpPr>
          <p:cNvPr id="4" name="Text 2"/>
          <p:cNvSpPr/>
          <p:nvPr/>
        </p:nvSpPr>
        <p:spPr>
          <a:xfrm>
            <a:off x="640080" y="457200"/>
            <a:ext cx="10911535" cy="640080"/>
          </a:xfrm>
          <a:prstGeom prst="rect">
            <a:avLst/>
          </a:prstGeom>
          <a:noFill/>
          <a:ln/>
        </p:spPr>
        <p:txBody>
          <a:bodyPr wrap="square" lIns="0" tIns="0" rIns="0" bIns="0" rtlCol="0" anchor="ctr"/>
          <a:lstStyle/>
          <a:p>
            <a:pPr marL="0" indent="0" algn="l">
              <a:buNone/>
            </a:pPr>
            <a:r>
              <a:rPr lang="en-US" sz="3000" b="1" dirty="0">
                <a:solidFill>
                  <a:srgbClr val="1E2761"/>
                </a:solidFill>
                <a:latin typeface="Cambria" pitchFamily="34" charset="0"/>
                <a:ea typeface="Cambria" pitchFamily="34" charset="-122"/>
                <a:cs typeface="Cambria" pitchFamily="34" charset="-120"/>
              </a:rPr>
              <a:t>Project Overview</a:t>
            </a:r>
            <a:endParaRPr lang="en-US" sz="3000" dirty="0"/>
          </a:p>
        </p:txBody>
      </p:sp>
      <p:sp>
        <p:nvSpPr>
          <p:cNvPr id="5" name="Text 3"/>
          <p:cNvSpPr/>
          <p:nvPr/>
        </p:nvSpPr>
        <p:spPr>
          <a:xfrm>
            <a:off x="640080" y="1024128"/>
            <a:ext cx="10911535" cy="320040"/>
          </a:xfrm>
          <a:prstGeom prst="rect">
            <a:avLst/>
          </a:prstGeom>
          <a:noFill/>
          <a:ln/>
        </p:spPr>
        <p:txBody>
          <a:bodyPr wrap="square" lIns="0" tIns="0" rIns="0" bIns="0" rtlCol="0" anchor="ctr"/>
          <a:lstStyle/>
          <a:p>
            <a:pPr marL="0" indent="0" algn="l">
              <a:buNone/>
            </a:pPr>
            <a:r>
              <a:rPr lang="en-US" sz="1300" i="1" dirty="0">
                <a:solidFill>
                  <a:srgbClr val="C9A227"/>
                </a:solidFill>
                <a:latin typeface="Calibri" pitchFamily="34" charset="0"/>
                <a:ea typeface="Calibri" pitchFamily="34" charset="-122"/>
                <a:cs typeface="Calibri" pitchFamily="34" charset="-120"/>
              </a:rPr>
              <a:t>Introduction</a:t>
            </a:r>
            <a:endParaRPr lang="en-US" sz="1300" dirty="0"/>
          </a:p>
        </p:txBody>
      </p:sp>
      <p:sp>
        <p:nvSpPr>
          <p:cNvPr id="6" name="Shape 4"/>
          <p:cNvSpPr/>
          <p:nvPr/>
        </p:nvSpPr>
        <p:spPr>
          <a:xfrm>
            <a:off x="640080" y="1737360"/>
            <a:ext cx="6400800" cy="4114800"/>
          </a:xfrm>
          <a:prstGeom prst="roundRect">
            <a:avLst>
              <a:gd name="adj" fmla="val 2667"/>
            </a:avLst>
          </a:prstGeom>
          <a:solidFill>
            <a:srgbClr val="F5F7FC"/>
          </a:solidFill>
          <a:ln w="12700">
            <a:solidFill>
              <a:srgbClr val="CADCFC"/>
            </a:solidFill>
            <a:prstDash val="solid"/>
          </a:ln>
        </p:spPr>
      </p:sp>
      <p:sp>
        <p:nvSpPr>
          <p:cNvPr id="7" name="Text 5"/>
          <p:cNvSpPr/>
          <p:nvPr/>
        </p:nvSpPr>
        <p:spPr>
          <a:xfrm>
            <a:off x="960120" y="2011680"/>
            <a:ext cx="5760720" cy="3566160"/>
          </a:xfrm>
          <a:prstGeom prst="rect">
            <a:avLst/>
          </a:prstGeom>
          <a:noFill/>
          <a:ln/>
        </p:spPr>
        <p:txBody>
          <a:bodyPr wrap="square" lIns="0" tIns="0" rIns="0" bIns="0" rtlCol="0" anchor="t"/>
          <a:lstStyle/>
          <a:p>
            <a:pPr marL="0" indent="0" algn="l">
              <a:lnSpc>
                <a:spcPct val="135000"/>
              </a:lnSpc>
              <a:buNone/>
            </a:pPr>
            <a:r>
              <a:rPr lang="en-US" sz="1550" dirty="0">
                <a:solidFill>
                  <a:srgbClr val="1B1F3B"/>
                </a:solidFill>
                <a:latin typeface="Calibri" pitchFamily="34" charset="0"/>
                <a:ea typeface="Calibri" pitchFamily="34" charset="-122"/>
                <a:cs typeface="Calibri" pitchFamily="34" charset="-120"/>
              </a:rPr>
              <a:t>Managing a library manually is slow and error-prone, whether registering books or tracking borrowing and return operations. This project delivers a complete digital solution built in Microsoft Access, allowing books to be registered and classified, borrower records to be managed, and every borrowing transaction to be tracked precisely from checkout to return.</a:t>
            </a:r>
            <a:endParaRPr lang="en-US" sz="1550" dirty="0"/>
          </a:p>
        </p:txBody>
      </p:sp>
      <p:sp>
        <p:nvSpPr>
          <p:cNvPr id="8" name="Shape 6"/>
          <p:cNvSpPr/>
          <p:nvPr/>
        </p:nvSpPr>
        <p:spPr>
          <a:xfrm>
            <a:off x="7360920" y="1737360"/>
            <a:ext cx="4160520" cy="1234440"/>
          </a:xfrm>
          <a:prstGeom prst="roundRect">
            <a:avLst>
              <a:gd name="adj" fmla="val 7407"/>
            </a:avLst>
          </a:prstGeom>
          <a:solidFill>
            <a:srgbClr val="1E2761"/>
          </a:solidFill>
          <a:ln/>
        </p:spPr>
      </p:sp>
      <p:sp>
        <p:nvSpPr>
          <p:cNvPr id="9" name="Text 7"/>
          <p:cNvSpPr/>
          <p:nvPr/>
        </p:nvSpPr>
        <p:spPr>
          <a:xfrm>
            <a:off x="7589520" y="1874520"/>
            <a:ext cx="1188720" cy="960120"/>
          </a:xfrm>
          <a:prstGeom prst="rect">
            <a:avLst/>
          </a:prstGeom>
          <a:noFill/>
          <a:ln/>
        </p:spPr>
        <p:txBody>
          <a:bodyPr wrap="square" lIns="0" tIns="0" rIns="0" bIns="0" rtlCol="0" anchor="ctr"/>
          <a:lstStyle/>
          <a:p>
            <a:pPr marL="0" indent="0" algn="ctr">
              <a:buNone/>
            </a:pPr>
            <a:r>
              <a:rPr lang="en-US" sz="4000" b="1" dirty="0">
                <a:solidFill>
                  <a:srgbClr val="C9A227"/>
                </a:solidFill>
                <a:latin typeface="Cambria" pitchFamily="34" charset="0"/>
                <a:ea typeface="Cambria" pitchFamily="34" charset="-122"/>
                <a:cs typeface="Cambria" pitchFamily="34" charset="-120"/>
              </a:rPr>
              <a:t>4</a:t>
            </a:r>
            <a:endParaRPr lang="en-US" sz="4000" dirty="0"/>
          </a:p>
        </p:txBody>
      </p:sp>
      <p:sp>
        <p:nvSpPr>
          <p:cNvPr id="10" name="Text 8"/>
          <p:cNvSpPr/>
          <p:nvPr/>
        </p:nvSpPr>
        <p:spPr>
          <a:xfrm>
            <a:off x="8732520" y="1874520"/>
            <a:ext cx="2651760" cy="960120"/>
          </a:xfrm>
          <a:prstGeom prst="rect">
            <a:avLst/>
          </a:prstGeom>
          <a:noFill/>
          <a:ln/>
        </p:spPr>
        <p:txBody>
          <a:bodyPr wrap="square" lIns="0" tIns="0" rIns="0" bIns="0" rtlCol="0" anchor="ctr"/>
          <a:lstStyle/>
          <a:p>
            <a:pPr marL="0" indent="0" algn="l">
              <a:buNone/>
            </a:pPr>
            <a:r>
              <a:rPr lang="en-US" sz="1400" b="1" dirty="0">
                <a:solidFill>
                  <a:srgbClr val="FFFFFF"/>
                </a:solidFill>
                <a:latin typeface="Calibri" pitchFamily="34" charset="0"/>
                <a:ea typeface="Calibri" pitchFamily="34" charset="-122"/>
                <a:cs typeface="Calibri" pitchFamily="34" charset="-120"/>
              </a:rPr>
              <a:t>Linked Tables</a:t>
            </a:r>
            <a:endParaRPr lang="en-US" sz="1400" dirty="0"/>
          </a:p>
        </p:txBody>
      </p:sp>
      <p:sp>
        <p:nvSpPr>
          <p:cNvPr id="11" name="Shape 9"/>
          <p:cNvSpPr/>
          <p:nvPr/>
        </p:nvSpPr>
        <p:spPr>
          <a:xfrm>
            <a:off x="7360920" y="3182112"/>
            <a:ext cx="4160520" cy="1234440"/>
          </a:xfrm>
          <a:prstGeom prst="roundRect">
            <a:avLst>
              <a:gd name="adj" fmla="val 7407"/>
            </a:avLst>
          </a:prstGeom>
          <a:solidFill>
            <a:srgbClr val="1E2761"/>
          </a:solidFill>
          <a:ln/>
        </p:spPr>
      </p:sp>
      <p:sp>
        <p:nvSpPr>
          <p:cNvPr id="12" name="Text 10"/>
          <p:cNvSpPr/>
          <p:nvPr/>
        </p:nvSpPr>
        <p:spPr>
          <a:xfrm>
            <a:off x="7589520" y="3319272"/>
            <a:ext cx="1188720" cy="960120"/>
          </a:xfrm>
          <a:prstGeom prst="rect">
            <a:avLst/>
          </a:prstGeom>
          <a:noFill/>
          <a:ln/>
        </p:spPr>
        <p:txBody>
          <a:bodyPr wrap="square" lIns="0" tIns="0" rIns="0" bIns="0" rtlCol="0" anchor="ctr"/>
          <a:lstStyle/>
          <a:p>
            <a:pPr marL="0" indent="0" algn="ctr">
              <a:buNone/>
            </a:pPr>
            <a:r>
              <a:rPr lang="en-US" sz="4000" b="1" dirty="0">
                <a:solidFill>
                  <a:srgbClr val="C9A227"/>
                </a:solidFill>
                <a:latin typeface="Cambria" pitchFamily="34" charset="0"/>
                <a:ea typeface="Cambria" pitchFamily="34" charset="-122"/>
                <a:cs typeface="Cambria" pitchFamily="34" charset="-120"/>
              </a:rPr>
              <a:t>3</a:t>
            </a:r>
            <a:endParaRPr lang="en-US" sz="4000" dirty="0"/>
          </a:p>
        </p:txBody>
      </p:sp>
      <p:sp>
        <p:nvSpPr>
          <p:cNvPr id="13" name="Text 11"/>
          <p:cNvSpPr/>
          <p:nvPr/>
        </p:nvSpPr>
        <p:spPr>
          <a:xfrm>
            <a:off x="8732520" y="3319272"/>
            <a:ext cx="2651760" cy="960120"/>
          </a:xfrm>
          <a:prstGeom prst="rect">
            <a:avLst/>
          </a:prstGeom>
          <a:noFill/>
          <a:ln/>
        </p:spPr>
        <p:txBody>
          <a:bodyPr wrap="square" lIns="0" tIns="0" rIns="0" bIns="0" rtlCol="0" anchor="ctr"/>
          <a:lstStyle/>
          <a:p>
            <a:pPr marL="0" indent="0" algn="l">
              <a:buNone/>
            </a:pPr>
            <a:r>
              <a:rPr lang="en-US" sz="1400" b="1" dirty="0">
                <a:solidFill>
                  <a:srgbClr val="FFFFFF"/>
                </a:solidFill>
                <a:latin typeface="Calibri" pitchFamily="34" charset="0"/>
                <a:ea typeface="Calibri" pitchFamily="34" charset="-122"/>
                <a:cs typeface="Calibri" pitchFamily="34" charset="-120"/>
              </a:rPr>
              <a:t>Data-Entry Forms</a:t>
            </a:r>
            <a:endParaRPr lang="en-US" sz="1400" dirty="0"/>
          </a:p>
        </p:txBody>
      </p:sp>
      <p:sp>
        <p:nvSpPr>
          <p:cNvPr id="14" name="Shape 12"/>
          <p:cNvSpPr/>
          <p:nvPr/>
        </p:nvSpPr>
        <p:spPr>
          <a:xfrm>
            <a:off x="7360920" y="4626864"/>
            <a:ext cx="4160520" cy="1234440"/>
          </a:xfrm>
          <a:prstGeom prst="roundRect">
            <a:avLst>
              <a:gd name="adj" fmla="val 7407"/>
            </a:avLst>
          </a:prstGeom>
          <a:solidFill>
            <a:srgbClr val="1E2761"/>
          </a:solidFill>
          <a:ln/>
        </p:spPr>
      </p:sp>
      <p:sp>
        <p:nvSpPr>
          <p:cNvPr id="15" name="Text 13"/>
          <p:cNvSpPr/>
          <p:nvPr/>
        </p:nvSpPr>
        <p:spPr>
          <a:xfrm>
            <a:off x="7589520" y="4764024"/>
            <a:ext cx="1188720" cy="960120"/>
          </a:xfrm>
          <a:prstGeom prst="rect">
            <a:avLst/>
          </a:prstGeom>
          <a:noFill/>
          <a:ln/>
        </p:spPr>
        <p:txBody>
          <a:bodyPr wrap="square" lIns="0" tIns="0" rIns="0" bIns="0" rtlCol="0" anchor="ctr"/>
          <a:lstStyle/>
          <a:p>
            <a:pPr marL="0" indent="0" algn="ctr">
              <a:buNone/>
            </a:pPr>
            <a:r>
              <a:rPr lang="en-US" sz="4000" b="1" dirty="0">
                <a:solidFill>
                  <a:srgbClr val="C9A227"/>
                </a:solidFill>
                <a:latin typeface="Cambria" pitchFamily="34" charset="0"/>
                <a:ea typeface="Cambria" pitchFamily="34" charset="-122"/>
                <a:cs typeface="Cambria" pitchFamily="34" charset="-120"/>
              </a:rPr>
              <a:t>4</a:t>
            </a:r>
            <a:endParaRPr lang="en-US" sz="4000" dirty="0"/>
          </a:p>
        </p:txBody>
      </p:sp>
      <p:sp>
        <p:nvSpPr>
          <p:cNvPr id="16" name="Text 14"/>
          <p:cNvSpPr/>
          <p:nvPr/>
        </p:nvSpPr>
        <p:spPr>
          <a:xfrm>
            <a:off x="8732520" y="4764024"/>
            <a:ext cx="2651760" cy="960120"/>
          </a:xfrm>
          <a:prstGeom prst="rect">
            <a:avLst/>
          </a:prstGeom>
          <a:noFill/>
          <a:ln/>
        </p:spPr>
        <p:txBody>
          <a:bodyPr wrap="square" lIns="0" tIns="0" rIns="0" bIns="0" rtlCol="0" anchor="ctr"/>
          <a:lstStyle/>
          <a:p>
            <a:pPr marL="0" indent="0" algn="l">
              <a:buNone/>
            </a:pPr>
            <a:r>
              <a:rPr lang="en-US" sz="1400" b="1" dirty="0">
                <a:solidFill>
                  <a:srgbClr val="FFFFFF"/>
                </a:solidFill>
                <a:latin typeface="Calibri" pitchFamily="34" charset="0"/>
                <a:ea typeface="Calibri" pitchFamily="34" charset="-122"/>
                <a:cs typeface="Calibri" pitchFamily="34" charset="-120"/>
              </a:rPr>
              <a:t>Queries</a:t>
            </a:r>
            <a:endParaRPr lang="en-US" sz="1400" dirty="0"/>
          </a:p>
        </p:txBody>
      </p:sp>
      <p:sp>
        <p:nvSpPr>
          <p:cNvPr id="17" name="Text 15"/>
          <p:cNvSpPr/>
          <p:nvPr/>
        </p:nvSpPr>
        <p:spPr>
          <a:xfrm>
            <a:off x="457200" y="6446520"/>
            <a:ext cx="7315200" cy="274320"/>
          </a:xfrm>
          <a:prstGeom prst="rect">
            <a:avLst/>
          </a:prstGeom>
          <a:noFill/>
          <a:ln/>
        </p:spPr>
        <p:txBody>
          <a:bodyPr wrap="square" lIns="0" tIns="0" rIns="0" bIns="0" rtlCol="0" anchor="ctr"/>
          <a:lstStyle/>
          <a:p>
            <a:pPr marL="0" indent="0" algn="l">
              <a:buNone/>
            </a:pPr>
            <a:r>
              <a:rPr lang="en-US" sz="900" dirty="0">
                <a:solidFill>
                  <a:srgbClr val="5A6178"/>
                </a:solidFill>
                <a:latin typeface="Calibri" pitchFamily="34" charset="0"/>
                <a:ea typeface="Calibri" pitchFamily="34" charset="-122"/>
                <a:cs typeface="Calibri" pitchFamily="34" charset="-120"/>
              </a:rPr>
              <a:t>Library System — Database Management Project</a:t>
            </a:r>
            <a:endParaRPr lang="en-US" sz="900" dirty="0"/>
          </a:p>
        </p:txBody>
      </p:sp>
      <p:sp>
        <p:nvSpPr>
          <p:cNvPr id="18" name="Text 16"/>
          <p:cNvSpPr/>
          <p:nvPr/>
        </p:nvSpPr>
        <p:spPr>
          <a:xfrm>
            <a:off x="11277295" y="6446520"/>
            <a:ext cx="457200" cy="274320"/>
          </a:xfrm>
          <a:prstGeom prst="rect">
            <a:avLst/>
          </a:prstGeom>
          <a:noFill/>
          <a:ln/>
        </p:spPr>
        <p:txBody>
          <a:bodyPr wrap="square" lIns="0" tIns="0" rIns="0" bIns="0" rtlCol="0" anchor="ctr"/>
          <a:lstStyle/>
          <a:p>
            <a:pPr marL="0" indent="0" algn="r">
              <a:buNone/>
            </a:pPr>
            <a:r>
              <a:rPr lang="en-US" sz="900" dirty="0">
                <a:solidFill>
                  <a:srgbClr val="5A6178"/>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0911535" cy="640080"/>
          </a:xfrm>
          <a:prstGeom prst="rect">
            <a:avLst/>
          </a:prstGeom>
          <a:noFill/>
          <a:ln/>
        </p:spPr>
        <p:txBody>
          <a:bodyPr wrap="square" lIns="0" tIns="0" rIns="0" bIns="0" rtlCol="0" anchor="ctr"/>
          <a:lstStyle/>
          <a:p>
            <a:pPr marL="0" indent="0" algn="l">
              <a:buNone/>
            </a:pPr>
            <a:r>
              <a:rPr lang="en-US" sz="3000" b="1" dirty="0">
                <a:solidFill>
                  <a:srgbClr val="1E2761"/>
                </a:solidFill>
                <a:latin typeface="Cambria" pitchFamily="34" charset="0"/>
                <a:ea typeface="Cambria" pitchFamily="34" charset="-122"/>
                <a:cs typeface="Cambria" pitchFamily="34" charset="-120"/>
              </a:rPr>
              <a:t>Project Objectives</a:t>
            </a:r>
            <a:endParaRPr lang="en-US" sz="3000" dirty="0"/>
          </a:p>
        </p:txBody>
      </p:sp>
      <p:sp>
        <p:nvSpPr>
          <p:cNvPr id="3" name="Text 1"/>
          <p:cNvSpPr/>
          <p:nvPr/>
        </p:nvSpPr>
        <p:spPr>
          <a:xfrm>
            <a:off x="640080" y="1024128"/>
            <a:ext cx="10911535" cy="320040"/>
          </a:xfrm>
          <a:prstGeom prst="rect">
            <a:avLst/>
          </a:prstGeom>
          <a:noFill/>
          <a:ln/>
        </p:spPr>
        <p:txBody>
          <a:bodyPr wrap="square" lIns="0" tIns="0" rIns="0" bIns="0" rtlCol="0" anchor="ctr"/>
          <a:lstStyle/>
          <a:p>
            <a:pPr marL="0" indent="0" algn="l">
              <a:buNone/>
            </a:pPr>
            <a:r>
              <a:rPr lang="en-US" sz="1300" i="1" dirty="0">
                <a:solidFill>
                  <a:srgbClr val="C9A227"/>
                </a:solidFill>
                <a:latin typeface="Calibri" pitchFamily="34" charset="0"/>
                <a:ea typeface="Calibri" pitchFamily="34" charset="-122"/>
                <a:cs typeface="Calibri" pitchFamily="34" charset="-120"/>
              </a:rPr>
              <a:t>What This System Aims to Achieve</a:t>
            </a:r>
            <a:endParaRPr lang="en-US" sz="1300" dirty="0"/>
          </a:p>
        </p:txBody>
      </p:sp>
      <p:sp>
        <p:nvSpPr>
          <p:cNvPr id="4" name="Shape 2"/>
          <p:cNvSpPr/>
          <p:nvPr/>
        </p:nvSpPr>
        <p:spPr>
          <a:xfrm>
            <a:off x="640080" y="1783080"/>
            <a:ext cx="5257800" cy="1965960"/>
          </a:xfrm>
          <a:prstGeom prst="roundRect">
            <a:avLst>
              <a:gd name="adj" fmla="val 4651"/>
            </a:avLst>
          </a:prstGeom>
          <a:solidFill>
            <a:srgbClr val="F5F7FC"/>
          </a:solidFill>
          <a:ln w="12700">
            <a:solidFill>
              <a:srgbClr val="CADCFC"/>
            </a:solidFill>
            <a:prstDash val="solid"/>
          </a:ln>
        </p:spPr>
      </p:sp>
      <p:sp>
        <p:nvSpPr>
          <p:cNvPr id="5" name="Shape 3"/>
          <p:cNvSpPr/>
          <p:nvPr/>
        </p:nvSpPr>
        <p:spPr>
          <a:xfrm>
            <a:off x="1005840" y="2057400"/>
            <a:ext cx="502920" cy="502920"/>
          </a:xfrm>
          <a:prstGeom prst="ellipse">
            <a:avLst/>
          </a:prstGeom>
          <a:solidFill>
            <a:srgbClr val="1E2761"/>
          </a:solidFill>
          <a:ln/>
        </p:spPr>
      </p:sp>
      <p:sp>
        <p:nvSpPr>
          <p:cNvPr id="6" name="Text 4"/>
          <p:cNvSpPr/>
          <p:nvPr/>
        </p:nvSpPr>
        <p:spPr>
          <a:xfrm>
            <a:off x="1005840" y="2057400"/>
            <a:ext cx="502920" cy="502920"/>
          </a:xfrm>
          <a:prstGeom prst="rect">
            <a:avLst/>
          </a:prstGeom>
          <a:noFill/>
          <a:ln/>
        </p:spPr>
        <p:txBody>
          <a:bodyPr wrap="square" lIns="0" tIns="0" rIns="0" bIns="0" rtlCol="0" anchor="ctr"/>
          <a:lstStyle/>
          <a:p>
            <a:pPr marL="0" indent="0" algn="ctr">
              <a:buNone/>
            </a:pPr>
            <a:r>
              <a:rPr lang="en-US" sz="1800" b="1" dirty="0">
                <a:solidFill>
                  <a:srgbClr val="C9A227"/>
                </a:solidFill>
                <a:latin typeface="Cambria" pitchFamily="34" charset="0"/>
                <a:ea typeface="Cambria" pitchFamily="34" charset="-122"/>
                <a:cs typeface="Cambria" pitchFamily="34" charset="-120"/>
              </a:rPr>
              <a:t>1</a:t>
            </a:r>
            <a:endParaRPr lang="en-US" sz="1800" dirty="0"/>
          </a:p>
        </p:txBody>
      </p:sp>
      <p:sp>
        <p:nvSpPr>
          <p:cNvPr id="7" name="Text 5"/>
          <p:cNvSpPr/>
          <p:nvPr/>
        </p:nvSpPr>
        <p:spPr>
          <a:xfrm>
            <a:off x="1645920" y="2011680"/>
            <a:ext cx="4023360" cy="457200"/>
          </a:xfrm>
          <a:prstGeom prst="rect">
            <a:avLst/>
          </a:prstGeom>
          <a:noFill/>
          <a:ln/>
        </p:spPr>
        <p:txBody>
          <a:bodyPr wrap="square" lIns="0" tIns="0" rIns="0" bIns="0" rtlCol="0" anchor="ctr"/>
          <a:lstStyle/>
          <a:p>
            <a:pPr marL="0" indent="0" algn="l">
              <a:buNone/>
            </a:pPr>
            <a:r>
              <a:rPr lang="en-US" sz="1650" b="1" dirty="0">
                <a:solidFill>
                  <a:srgbClr val="1E2761"/>
                </a:solidFill>
                <a:latin typeface="Cambria" pitchFamily="34" charset="0"/>
                <a:ea typeface="Cambria" pitchFamily="34" charset="-122"/>
                <a:cs typeface="Cambria" pitchFamily="34" charset="-120"/>
              </a:rPr>
              <a:t>Organize Book Data</a:t>
            </a:r>
            <a:endParaRPr lang="en-US" sz="1650" dirty="0"/>
          </a:p>
        </p:txBody>
      </p:sp>
      <p:sp>
        <p:nvSpPr>
          <p:cNvPr id="8" name="Text 6"/>
          <p:cNvSpPr/>
          <p:nvPr/>
        </p:nvSpPr>
        <p:spPr>
          <a:xfrm>
            <a:off x="914400" y="2560320"/>
            <a:ext cx="4709160" cy="1051560"/>
          </a:xfrm>
          <a:prstGeom prst="rect">
            <a:avLst/>
          </a:prstGeom>
          <a:noFill/>
          <a:ln/>
        </p:spPr>
        <p:txBody>
          <a:bodyPr wrap="square" lIns="0" tIns="0" rIns="0" bIns="0" rtlCol="0" anchor="t"/>
          <a:lstStyle/>
          <a:p>
            <a:pPr marL="0" indent="0" algn="l">
              <a:lnSpc>
                <a:spcPct val="125000"/>
              </a:lnSpc>
              <a:buNone/>
            </a:pPr>
            <a:r>
              <a:rPr lang="en-US" sz="1250" dirty="0">
                <a:solidFill>
                  <a:srgbClr val="5A6178"/>
                </a:solidFill>
                <a:latin typeface="Calibri" pitchFamily="34" charset="0"/>
                <a:ea typeface="Calibri" pitchFamily="34" charset="-122"/>
                <a:cs typeface="Calibri" pitchFamily="34" charset="-120"/>
              </a:rPr>
              <a:t>Register every book with its author, publisher, publication year, and subject category.</a:t>
            </a:r>
            <a:endParaRPr lang="en-US" sz="1250" dirty="0"/>
          </a:p>
        </p:txBody>
      </p:sp>
      <p:sp>
        <p:nvSpPr>
          <p:cNvPr id="9" name="Shape 7"/>
          <p:cNvSpPr/>
          <p:nvPr/>
        </p:nvSpPr>
        <p:spPr>
          <a:xfrm>
            <a:off x="6217920" y="1783080"/>
            <a:ext cx="5257800" cy="1965960"/>
          </a:xfrm>
          <a:prstGeom prst="roundRect">
            <a:avLst>
              <a:gd name="adj" fmla="val 4651"/>
            </a:avLst>
          </a:prstGeom>
          <a:solidFill>
            <a:srgbClr val="F5F7FC"/>
          </a:solidFill>
          <a:ln w="12700">
            <a:solidFill>
              <a:srgbClr val="CADCFC"/>
            </a:solidFill>
            <a:prstDash val="solid"/>
          </a:ln>
        </p:spPr>
      </p:sp>
      <p:sp>
        <p:nvSpPr>
          <p:cNvPr id="10" name="Shape 8"/>
          <p:cNvSpPr/>
          <p:nvPr/>
        </p:nvSpPr>
        <p:spPr>
          <a:xfrm>
            <a:off x="6583680" y="2057400"/>
            <a:ext cx="502920" cy="502920"/>
          </a:xfrm>
          <a:prstGeom prst="ellipse">
            <a:avLst/>
          </a:prstGeom>
          <a:solidFill>
            <a:srgbClr val="1E2761"/>
          </a:solidFill>
          <a:ln/>
        </p:spPr>
      </p:sp>
      <p:sp>
        <p:nvSpPr>
          <p:cNvPr id="11" name="Text 9"/>
          <p:cNvSpPr/>
          <p:nvPr/>
        </p:nvSpPr>
        <p:spPr>
          <a:xfrm>
            <a:off x="6583680" y="2057400"/>
            <a:ext cx="502920" cy="502920"/>
          </a:xfrm>
          <a:prstGeom prst="rect">
            <a:avLst/>
          </a:prstGeom>
          <a:noFill/>
          <a:ln/>
        </p:spPr>
        <p:txBody>
          <a:bodyPr wrap="square" lIns="0" tIns="0" rIns="0" bIns="0" rtlCol="0" anchor="ctr"/>
          <a:lstStyle/>
          <a:p>
            <a:pPr marL="0" indent="0" algn="ctr">
              <a:buNone/>
            </a:pPr>
            <a:r>
              <a:rPr lang="en-US" sz="1800" b="1" dirty="0">
                <a:solidFill>
                  <a:srgbClr val="C9A227"/>
                </a:solidFill>
                <a:latin typeface="Cambria" pitchFamily="34" charset="0"/>
                <a:ea typeface="Cambria" pitchFamily="34" charset="-122"/>
                <a:cs typeface="Cambria" pitchFamily="34" charset="-120"/>
              </a:rPr>
              <a:t>2</a:t>
            </a:r>
            <a:endParaRPr lang="en-US" sz="1800" dirty="0"/>
          </a:p>
        </p:txBody>
      </p:sp>
      <p:sp>
        <p:nvSpPr>
          <p:cNvPr id="12" name="Text 10"/>
          <p:cNvSpPr/>
          <p:nvPr/>
        </p:nvSpPr>
        <p:spPr>
          <a:xfrm>
            <a:off x="7223760" y="2011680"/>
            <a:ext cx="4023360" cy="457200"/>
          </a:xfrm>
          <a:prstGeom prst="rect">
            <a:avLst/>
          </a:prstGeom>
          <a:noFill/>
          <a:ln/>
        </p:spPr>
        <p:txBody>
          <a:bodyPr wrap="square" lIns="0" tIns="0" rIns="0" bIns="0" rtlCol="0" anchor="ctr"/>
          <a:lstStyle/>
          <a:p>
            <a:pPr marL="0" indent="0" algn="l">
              <a:buNone/>
            </a:pPr>
            <a:r>
              <a:rPr lang="en-US" sz="1650" b="1" dirty="0">
                <a:solidFill>
                  <a:srgbClr val="1E2761"/>
                </a:solidFill>
                <a:latin typeface="Cambria" pitchFamily="34" charset="0"/>
                <a:ea typeface="Cambria" pitchFamily="34" charset="-122"/>
                <a:cs typeface="Cambria" pitchFamily="34" charset="-120"/>
              </a:rPr>
              <a:t>Manage Borrowers</a:t>
            </a:r>
            <a:endParaRPr lang="en-US" sz="1650" dirty="0"/>
          </a:p>
        </p:txBody>
      </p:sp>
      <p:sp>
        <p:nvSpPr>
          <p:cNvPr id="13" name="Text 11"/>
          <p:cNvSpPr/>
          <p:nvPr/>
        </p:nvSpPr>
        <p:spPr>
          <a:xfrm>
            <a:off x="6492240" y="2560320"/>
            <a:ext cx="4709160" cy="1051560"/>
          </a:xfrm>
          <a:prstGeom prst="rect">
            <a:avLst/>
          </a:prstGeom>
          <a:noFill/>
          <a:ln/>
        </p:spPr>
        <p:txBody>
          <a:bodyPr wrap="square" lIns="0" tIns="0" rIns="0" bIns="0" rtlCol="0" anchor="t"/>
          <a:lstStyle/>
          <a:p>
            <a:pPr marL="0" indent="0" algn="l">
              <a:lnSpc>
                <a:spcPct val="125000"/>
              </a:lnSpc>
              <a:buNone/>
            </a:pPr>
            <a:r>
              <a:rPr lang="en-US" sz="1250" dirty="0">
                <a:solidFill>
                  <a:srgbClr val="5A6178"/>
                </a:solidFill>
                <a:latin typeface="Calibri" pitchFamily="34" charset="0"/>
                <a:ea typeface="Calibri" pitchFamily="34" charset="-122"/>
                <a:cs typeface="Calibri" pitchFamily="34" charset="-120"/>
              </a:rPr>
              <a:t>Store complete borrower records: name, phone number, email, and address.</a:t>
            </a:r>
            <a:endParaRPr lang="en-US" sz="1250" dirty="0"/>
          </a:p>
        </p:txBody>
      </p:sp>
      <p:sp>
        <p:nvSpPr>
          <p:cNvPr id="14" name="Shape 12"/>
          <p:cNvSpPr/>
          <p:nvPr/>
        </p:nvSpPr>
        <p:spPr>
          <a:xfrm>
            <a:off x="640080" y="4069080"/>
            <a:ext cx="5257800" cy="1965960"/>
          </a:xfrm>
          <a:prstGeom prst="roundRect">
            <a:avLst>
              <a:gd name="adj" fmla="val 4651"/>
            </a:avLst>
          </a:prstGeom>
          <a:solidFill>
            <a:srgbClr val="F5F7FC"/>
          </a:solidFill>
          <a:ln w="12700">
            <a:solidFill>
              <a:srgbClr val="CADCFC"/>
            </a:solidFill>
            <a:prstDash val="solid"/>
          </a:ln>
        </p:spPr>
      </p:sp>
      <p:sp>
        <p:nvSpPr>
          <p:cNvPr id="15" name="Shape 13"/>
          <p:cNvSpPr/>
          <p:nvPr/>
        </p:nvSpPr>
        <p:spPr>
          <a:xfrm>
            <a:off x="1005840" y="4343400"/>
            <a:ext cx="502920" cy="502920"/>
          </a:xfrm>
          <a:prstGeom prst="ellipse">
            <a:avLst/>
          </a:prstGeom>
          <a:solidFill>
            <a:srgbClr val="1E2761"/>
          </a:solidFill>
          <a:ln/>
        </p:spPr>
      </p:sp>
      <p:sp>
        <p:nvSpPr>
          <p:cNvPr id="16" name="Text 14"/>
          <p:cNvSpPr/>
          <p:nvPr/>
        </p:nvSpPr>
        <p:spPr>
          <a:xfrm>
            <a:off x="1005840" y="4343400"/>
            <a:ext cx="502920" cy="502920"/>
          </a:xfrm>
          <a:prstGeom prst="rect">
            <a:avLst/>
          </a:prstGeom>
          <a:noFill/>
          <a:ln/>
        </p:spPr>
        <p:txBody>
          <a:bodyPr wrap="square" lIns="0" tIns="0" rIns="0" bIns="0" rtlCol="0" anchor="ctr"/>
          <a:lstStyle/>
          <a:p>
            <a:pPr marL="0" indent="0" algn="ctr">
              <a:buNone/>
            </a:pPr>
            <a:r>
              <a:rPr lang="en-US" sz="1800" b="1" dirty="0">
                <a:solidFill>
                  <a:srgbClr val="C9A227"/>
                </a:solidFill>
                <a:latin typeface="Cambria" pitchFamily="34" charset="0"/>
                <a:ea typeface="Cambria" pitchFamily="34" charset="-122"/>
                <a:cs typeface="Cambria" pitchFamily="34" charset="-120"/>
              </a:rPr>
              <a:t>3</a:t>
            </a:r>
            <a:endParaRPr lang="en-US" sz="1800" dirty="0"/>
          </a:p>
        </p:txBody>
      </p:sp>
      <p:sp>
        <p:nvSpPr>
          <p:cNvPr id="17" name="Text 15"/>
          <p:cNvSpPr/>
          <p:nvPr/>
        </p:nvSpPr>
        <p:spPr>
          <a:xfrm>
            <a:off x="1645920" y="4297680"/>
            <a:ext cx="4023360" cy="457200"/>
          </a:xfrm>
          <a:prstGeom prst="rect">
            <a:avLst/>
          </a:prstGeom>
          <a:noFill/>
          <a:ln/>
        </p:spPr>
        <p:txBody>
          <a:bodyPr wrap="square" lIns="0" tIns="0" rIns="0" bIns="0" rtlCol="0" anchor="ctr"/>
          <a:lstStyle/>
          <a:p>
            <a:pPr marL="0" indent="0" algn="l">
              <a:buNone/>
            </a:pPr>
            <a:r>
              <a:rPr lang="en-US" sz="1650" b="1" dirty="0">
                <a:solidFill>
                  <a:srgbClr val="1E2761"/>
                </a:solidFill>
                <a:latin typeface="Cambria" pitchFamily="34" charset="0"/>
                <a:ea typeface="Cambria" pitchFamily="34" charset="-122"/>
                <a:cs typeface="Cambria" pitchFamily="34" charset="-120"/>
              </a:rPr>
              <a:t>Track Borrowing &amp; Returns</a:t>
            </a:r>
            <a:endParaRPr lang="en-US" sz="1650" dirty="0"/>
          </a:p>
        </p:txBody>
      </p:sp>
      <p:sp>
        <p:nvSpPr>
          <p:cNvPr id="18" name="Text 16"/>
          <p:cNvSpPr/>
          <p:nvPr/>
        </p:nvSpPr>
        <p:spPr>
          <a:xfrm>
            <a:off x="914400" y="4846320"/>
            <a:ext cx="4709160" cy="1051560"/>
          </a:xfrm>
          <a:prstGeom prst="rect">
            <a:avLst/>
          </a:prstGeom>
          <a:noFill/>
          <a:ln/>
        </p:spPr>
        <p:txBody>
          <a:bodyPr wrap="square" lIns="0" tIns="0" rIns="0" bIns="0" rtlCol="0" anchor="t"/>
          <a:lstStyle/>
          <a:p>
            <a:pPr marL="0" indent="0" algn="l">
              <a:lnSpc>
                <a:spcPct val="125000"/>
              </a:lnSpc>
              <a:buNone/>
            </a:pPr>
            <a:r>
              <a:rPr lang="en-US" sz="1250" dirty="0">
                <a:solidFill>
                  <a:srgbClr val="5A6178"/>
                </a:solidFill>
                <a:latin typeface="Calibri" pitchFamily="34" charset="0"/>
                <a:ea typeface="Calibri" pitchFamily="34" charset="-122"/>
                <a:cs typeface="Calibri" pitchFamily="34" charset="-120"/>
              </a:rPr>
              <a:t>Link every transaction to its due date and actual return date automatically.</a:t>
            </a:r>
            <a:endParaRPr lang="en-US" sz="1250" dirty="0"/>
          </a:p>
        </p:txBody>
      </p:sp>
      <p:sp>
        <p:nvSpPr>
          <p:cNvPr id="19" name="Shape 17"/>
          <p:cNvSpPr/>
          <p:nvPr/>
        </p:nvSpPr>
        <p:spPr>
          <a:xfrm>
            <a:off x="6217920" y="4069080"/>
            <a:ext cx="5257800" cy="1965960"/>
          </a:xfrm>
          <a:prstGeom prst="roundRect">
            <a:avLst>
              <a:gd name="adj" fmla="val 4651"/>
            </a:avLst>
          </a:prstGeom>
          <a:solidFill>
            <a:srgbClr val="F5F7FC"/>
          </a:solidFill>
          <a:ln w="12700">
            <a:solidFill>
              <a:srgbClr val="CADCFC"/>
            </a:solidFill>
            <a:prstDash val="solid"/>
          </a:ln>
        </p:spPr>
      </p:sp>
      <p:sp>
        <p:nvSpPr>
          <p:cNvPr id="20" name="Shape 18"/>
          <p:cNvSpPr/>
          <p:nvPr/>
        </p:nvSpPr>
        <p:spPr>
          <a:xfrm>
            <a:off x="6583680" y="4343400"/>
            <a:ext cx="502920" cy="502920"/>
          </a:xfrm>
          <a:prstGeom prst="ellipse">
            <a:avLst/>
          </a:prstGeom>
          <a:solidFill>
            <a:srgbClr val="1E2761"/>
          </a:solidFill>
          <a:ln/>
        </p:spPr>
      </p:sp>
      <p:sp>
        <p:nvSpPr>
          <p:cNvPr id="21" name="Text 19"/>
          <p:cNvSpPr/>
          <p:nvPr/>
        </p:nvSpPr>
        <p:spPr>
          <a:xfrm>
            <a:off x="6583680" y="4343400"/>
            <a:ext cx="502920" cy="502920"/>
          </a:xfrm>
          <a:prstGeom prst="rect">
            <a:avLst/>
          </a:prstGeom>
          <a:noFill/>
          <a:ln/>
        </p:spPr>
        <p:txBody>
          <a:bodyPr wrap="square" lIns="0" tIns="0" rIns="0" bIns="0" rtlCol="0" anchor="ctr"/>
          <a:lstStyle/>
          <a:p>
            <a:pPr marL="0" indent="0" algn="ctr">
              <a:buNone/>
            </a:pPr>
            <a:r>
              <a:rPr lang="en-US" sz="1800" b="1" dirty="0">
                <a:solidFill>
                  <a:srgbClr val="C9A227"/>
                </a:solidFill>
                <a:latin typeface="Cambria" pitchFamily="34" charset="0"/>
                <a:ea typeface="Cambria" pitchFamily="34" charset="-122"/>
                <a:cs typeface="Cambria" pitchFamily="34" charset="-120"/>
              </a:rPr>
              <a:t>4</a:t>
            </a:r>
            <a:endParaRPr lang="en-US" sz="1800" dirty="0"/>
          </a:p>
        </p:txBody>
      </p:sp>
      <p:sp>
        <p:nvSpPr>
          <p:cNvPr id="22" name="Text 20"/>
          <p:cNvSpPr/>
          <p:nvPr/>
        </p:nvSpPr>
        <p:spPr>
          <a:xfrm>
            <a:off x="7223760" y="4297680"/>
            <a:ext cx="4023360" cy="457200"/>
          </a:xfrm>
          <a:prstGeom prst="rect">
            <a:avLst/>
          </a:prstGeom>
          <a:noFill/>
          <a:ln/>
        </p:spPr>
        <p:txBody>
          <a:bodyPr wrap="square" lIns="0" tIns="0" rIns="0" bIns="0" rtlCol="0" anchor="ctr"/>
          <a:lstStyle/>
          <a:p>
            <a:pPr marL="0" indent="0" algn="l">
              <a:buNone/>
            </a:pPr>
            <a:r>
              <a:rPr lang="en-US" sz="1650" b="1" dirty="0">
                <a:solidFill>
                  <a:srgbClr val="1E2761"/>
                </a:solidFill>
                <a:latin typeface="Cambria" pitchFamily="34" charset="0"/>
                <a:ea typeface="Cambria" pitchFamily="34" charset="-122"/>
                <a:cs typeface="Cambria" pitchFamily="34" charset="-120"/>
              </a:rPr>
              <a:t>Reduce Manual Errors</a:t>
            </a:r>
            <a:endParaRPr lang="en-US" sz="1650" dirty="0"/>
          </a:p>
        </p:txBody>
      </p:sp>
      <p:sp>
        <p:nvSpPr>
          <p:cNvPr id="23" name="Text 21"/>
          <p:cNvSpPr/>
          <p:nvPr/>
        </p:nvSpPr>
        <p:spPr>
          <a:xfrm>
            <a:off x="6492240" y="4846320"/>
            <a:ext cx="4709160" cy="1051560"/>
          </a:xfrm>
          <a:prstGeom prst="rect">
            <a:avLst/>
          </a:prstGeom>
          <a:noFill/>
          <a:ln/>
        </p:spPr>
        <p:txBody>
          <a:bodyPr wrap="square" lIns="0" tIns="0" rIns="0" bIns="0" rtlCol="0" anchor="t"/>
          <a:lstStyle/>
          <a:p>
            <a:pPr marL="0" indent="0" algn="l">
              <a:lnSpc>
                <a:spcPct val="125000"/>
              </a:lnSpc>
              <a:buNone/>
            </a:pPr>
            <a:r>
              <a:rPr lang="en-US" sz="1250" dirty="0">
                <a:solidFill>
                  <a:srgbClr val="5A6178"/>
                </a:solidFill>
                <a:latin typeface="Calibri" pitchFamily="34" charset="0"/>
                <a:ea typeface="Calibri" pitchFamily="34" charset="-122"/>
                <a:cs typeface="Calibri" pitchFamily="34" charset="-120"/>
              </a:rPr>
              <a:t>Replace paper records with an accurate database that's easy to search and update.</a:t>
            </a:r>
            <a:endParaRPr lang="en-US" sz="1250" dirty="0"/>
          </a:p>
        </p:txBody>
      </p:sp>
      <p:sp>
        <p:nvSpPr>
          <p:cNvPr id="24" name="Text 22"/>
          <p:cNvSpPr/>
          <p:nvPr/>
        </p:nvSpPr>
        <p:spPr>
          <a:xfrm>
            <a:off x="457200" y="6446520"/>
            <a:ext cx="7315200" cy="274320"/>
          </a:xfrm>
          <a:prstGeom prst="rect">
            <a:avLst/>
          </a:prstGeom>
          <a:noFill/>
          <a:ln/>
        </p:spPr>
        <p:txBody>
          <a:bodyPr wrap="square" lIns="0" tIns="0" rIns="0" bIns="0" rtlCol="0" anchor="ctr"/>
          <a:lstStyle/>
          <a:p>
            <a:pPr marL="0" indent="0" algn="l">
              <a:buNone/>
            </a:pPr>
            <a:r>
              <a:rPr lang="en-US" sz="900" dirty="0">
                <a:solidFill>
                  <a:srgbClr val="5A6178"/>
                </a:solidFill>
                <a:latin typeface="Calibri" pitchFamily="34" charset="0"/>
                <a:ea typeface="Calibri" pitchFamily="34" charset="-122"/>
                <a:cs typeface="Calibri" pitchFamily="34" charset="-120"/>
              </a:rPr>
              <a:t>Library System — Database Management Project</a:t>
            </a:r>
            <a:endParaRPr lang="en-US" sz="900" dirty="0"/>
          </a:p>
        </p:txBody>
      </p:sp>
      <p:sp>
        <p:nvSpPr>
          <p:cNvPr id="25" name="Text 23"/>
          <p:cNvSpPr/>
          <p:nvPr/>
        </p:nvSpPr>
        <p:spPr>
          <a:xfrm>
            <a:off x="11277295" y="6446520"/>
            <a:ext cx="457200" cy="274320"/>
          </a:xfrm>
          <a:prstGeom prst="rect">
            <a:avLst/>
          </a:prstGeom>
          <a:noFill/>
          <a:ln/>
        </p:spPr>
        <p:txBody>
          <a:bodyPr wrap="square" lIns="0" tIns="0" rIns="0" bIns="0" rtlCol="0" anchor="ctr"/>
          <a:lstStyle/>
          <a:p>
            <a:pPr marL="0" indent="0" algn="r">
              <a:buNone/>
            </a:pPr>
            <a:r>
              <a:rPr lang="en-US" sz="900" dirty="0">
                <a:solidFill>
                  <a:srgbClr val="5A6178"/>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41B4D"/>
        </a:solidFill>
        <a:effectLst/>
      </p:bgPr>
    </p:bg>
    <p:spTree>
      <p:nvGrpSpPr>
        <p:cNvPr id="1" name=""/>
        <p:cNvGrpSpPr/>
        <p:nvPr/>
      </p:nvGrpSpPr>
      <p:grpSpPr>
        <a:xfrm>
          <a:off x="0" y="0"/>
          <a:ext cx="0" cy="0"/>
          <a:chOff x="0" y="0"/>
          <a:chExt cx="0" cy="0"/>
        </a:xfrm>
      </p:grpSpPr>
      <p:sp>
        <p:nvSpPr>
          <p:cNvPr id="2" name="Shape 0"/>
          <p:cNvSpPr/>
          <p:nvPr/>
        </p:nvSpPr>
        <p:spPr>
          <a:xfrm>
            <a:off x="10180015" y="-1463040"/>
            <a:ext cx="3840480" cy="3840480"/>
          </a:xfrm>
          <a:prstGeom prst="ellipse">
            <a:avLst/>
          </a:prstGeom>
          <a:solidFill>
            <a:srgbClr val="CADCFC">
              <a:alpha val="8000"/>
            </a:srgbClr>
          </a:solidFill>
          <a:ln/>
        </p:spPr>
      </p:sp>
      <p:sp>
        <p:nvSpPr>
          <p:cNvPr id="3" name="Shape 1"/>
          <p:cNvSpPr/>
          <p:nvPr/>
        </p:nvSpPr>
        <p:spPr>
          <a:xfrm>
            <a:off x="-1280160" y="5029200"/>
            <a:ext cx="2926080" cy="2926080"/>
          </a:xfrm>
          <a:prstGeom prst="ellipse">
            <a:avLst/>
          </a:prstGeom>
          <a:solidFill>
            <a:srgbClr val="CADCFC">
              <a:alpha val="8000"/>
            </a:srgbClr>
          </a:solidFill>
          <a:ln/>
        </p:spPr>
      </p:sp>
      <p:sp>
        <p:nvSpPr>
          <p:cNvPr id="4" name="Text 2"/>
          <p:cNvSpPr/>
          <p:nvPr/>
        </p:nvSpPr>
        <p:spPr>
          <a:xfrm>
            <a:off x="640080" y="457200"/>
            <a:ext cx="10911535" cy="640080"/>
          </a:xfrm>
          <a:prstGeom prst="rect">
            <a:avLst/>
          </a:prstGeom>
          <a:noFill/>
          <a:ln/>
        </p:spPr>
        <p:txBody>
          <a:bodyPr wrap="square" lIns="0" tIns="0" rIns="0" bIns="0" rtlCol="0" anchor="ctr"/>
          <a:lstStyle/>
          <a:p>
            <a:pPr marL="0" indent="0" algn="l">
              <a:buNone/>
            </a:pPr>
            <a:r>
              <a:rPr lang="en-US" sz="3000" b="1" dirty="0">
                <a:solidFill>
                  <a:srgbClr val="FFFFFF"/>
                </a:solidFill>
                <a:latin typeface="Cambria" pitchFamily="34" charset="0"/>
                <a:ea typeface="Cambria" pitchFamily="34" charset="-122"/>
                <a:cs typeface="Cambria" pitchFamily="34" charset="-120"/>
              </a:rPr>
              <a:t>Tools &amp; Technologies</a:t>
            </a:r>
            <a:endParaRPr lang="en-US" sz="3000" dirty="0"/>
          </a:p>
        </p:txBody>
      </p:sp>
      <p:sp>
        <p:nvSpPr>
          <p:cNvPr id="5" name="Text 3"/>
          <p:cNvSpPr/>
          <p:nvPr/>
        </p:nvSpPr>
        <p:spPr>
          <a:xfrm>
            <a:off x="640080" y="1024128"/>
            <a:ext cx="10911535" cy="320040"/>
          </a:xfrm>
          <a:prstGeom prst="rect">
            <a:avLst/>
          </a:prstGeom>
          <a:noFill/>
          <a:ln/>
        </p:spPr>
        <p:txBody>
          <a:bodyPr wrap="square" lIns="0" tIns="0" rIns="0" bIns="0" rtlCol="0" anchor="ctr"/>
          <a:lstStyle/>
          <a:p>
            <a:pPr marL="0" indent="0" algn="l">
              <a:buNone/>
            </a:pPr>
            <a:r>
              <a:rPr lang="en-US" sz="1300" i="1" dirty="0">
                <a:solidFill>
                  <a:srgbClr val="C9A227"/>
                </a:solidFill>
                <a:latin typeface="Calibri" pitchFamily="34" charset="0"/>
                <a:ea typeface="Calibri" pitchFamily="34" charset="-122"/>
                <a:cs typeface="Calibri" pitchFamily="34" charset="-120"/>
              </a:rPr>
              <a:t>What Powers This System</a:t>
            </a:r>
            <a:endParaRPr lang="en-US" sz="1300" dirty="0"/>
          </a:p>
        </p:txBody>
      </p:sp>
      <p:sp>
        <p:nvSpPr>
          <p:cNvPr id="6" name="Shape 4"/>
          <p:cNvSpPr/>
          <p:nvPr/>
        </p:nvSpPr>
        <p:spPr>
          <a:xfrm>
            <a:off x="640080" y="1874520"/>
            <a:ext cx="10911535" cy="676656"/>
          </a:xfrm>
          <a:prstGeom prst="roundRect">
            <a:avLst>
              <a:gd name="adj" fmla="val 10811"/>
            </a:avLst>
          </a:prstGeom>
          <a:solidFill>
            <a:srgbClr val="20296B"/>
          </a:solidFill>
          <a:ln/>
        </p:spPr>
      </p:sp>
      <p:sp>
        <p:nvSpPr>
          <p:cNvPr id="7" name="Shape 5"/>
          <p:cNvSpPr/>
          <p:nvPr/>
        </p:nvSpPr>
        <p:spPr>
          <a:xfrm>
            <a:off x="822960" y="2084832"/>
            <a:ext cx="256032" cy="256032"/>
          </a:xfrm>
          <a:prstGeom prst="ellipse">
            <a:avLst/>
          </a:prstGeom>
          <a:solidFill>
            <a:srgbClr val="C9A227"/>
          </a:solidFill>
          <a:ln/>
        </p:spPr>
      </p:sp>
      <p:sp>
        <p:nvSpPr>
          <p:cNvPr id="8" name="Text 6"/>
          <p:cNvSpPr/>
          <p:nvPr/>
        </p:nvSpPr>
        <p:spPr>
          <a:xfrm>
            <a:off x="1280160" y="1874520"/>
            <a:ext cx="3566160" cy="676656"/>
          </a:xfrm>
          <a:prstGeom prst="rect">
            <a:avLst/>
          </a:prstGeom>
          <a:noFill/>
          <a:ln/>
        </p:spPr>
        <p:txBody>
          <a:bodyPr wrap="square" lIns="0" tIns="0" rIns="0" bIns="0" rtlCol="0" anchor="ctr"/>
          <a:lstStyle/>
          <a:p>
            <a:pPr marL="0" indent="0" algn="l">
              <a:buNone/>
            </a:pPr>
            <a:r>
              <a:rPr lang="en-US" sz="1600" b="1" dirty="0">
                <a:solidFill>
                  <a:srgbClr val="FFFFFF"/>
                </a:solidFill>
                <a:latin typeface="Cambria" pitchFamily="34" charset="0"/>
                <a:ea typeface="Cambria" pitchFamily="34" charset="-122"/>
                <a:cs typeface="Cambria" pitchFamily="34" charset="-120"/>
              </a:rPr>
              <a:t>Microsoft Access 2016</a:t>
            </a:r>
            <a:endParaRPr lang="en-US" sz="1600" dirty="0"/>
          </a:p>
        </p:txBody>
      </p:sp>
      <p:sp>
        <p:nvSpPr>
          <p:cNvPr id="9" name="Text 7"/>
          <p:cNvSpPr/>
          <p:nvPr/>
        </p:nvSpPr>
        <p:spPr>
          <a:xfrm>
            <a:off x="5120640" y="1874520"/>
            <a:ext cx="5470855" cy="676656"/>
          </a:xfrm>
          <a:prstGeom prst="rect">
            <a:avLst/>
          </a:prstGeom>
          <a:noFill/>
          <a:ln/>
        </p:spPr>
        <p:txBody>
          <a:bodyPr wrap="square" lIns="0" tIns="0" rIns="0" bIns="0" rtlCol="0" anchor="ctr"/>
          <a:lstStyle/>
          <a:p>
            <a:pPr marL="0" indent="0" algn="l">
              <a:buNone/>
            </a:pPr>
            <a:r>
              <a:rPr lang="en-US" sz="1250" dirty="0">
                <a:solidFill>
                  <a:srgbClr val="AEB6DC"/>
                </a:solidFill>
                <a:latin typeface="Calibri" pitchFamily="34" charset="0"/>
                <a:ea typeface="Calibri" pitchFamily="34" charset="-122"/>
                <a:cs typeface="Calibri" pitchFamily="34" charset="-120"/>
              </a:rPr>
              <a:t>The core environment used to design the entire database</a:t>
            </a:r>
            <a:endParaRPr lang="en-US" sz="1250" dirty="0"/>
          </a:p>
        </p:txBody>
      </p:sp>
      <p:sp>
        <p:nvSpPr>
          <p:cNvPr id="10" name="Shape 8"/>
          <p:cNvSpPr/>
          <p:nvPr/>
        </p:nvSpPr>
        <p:spPr>
          <a:xfrm>
            <a:off x="640080" y="2715768"/>
            <a:ext cx="10911535" cy="676656"/>
          </a:xfrm>
          <a:prstGeom prst="roundRect">
            <a:avLst>
              <a:gd name="adj" fmla="val 10811"/>
            </a:avLst>
          </a:prstGeom>
          <a:solidFill>
            <a:srgbClr val="20296B"/>
          </a:solidFill>
          <a:ln/>
        </p:spPr>
      </p:sp>
      <p:sp>
        <p:nvSpPr>
          <p:cNvPr id="11" name="Shape 9"/>
          <p:cNvSpPr/>
          <p:nvPr/>
        </p:nvSpPr>
        <p:spPr>
          <a:xfrm>
            <a:off x="822960" y="2926080"/>
            <a:ext cx="256032" cy="256032"/>
          </a:xfrm>
          <a:prstGeom prst="ellipse">
            <a:avLst/>
          </a:prstGeom>
          <a:solidFill>
            <a:srgbClr val="C9A227"/>
          </a:solidFill>
          <a:ln/>
        </p:spPr>
      </p:sp>
      <p:sp>
        <p:nvSpPr>
          <p:cNvPr id="12" name="Text 10"/>
          <p:cNvSpPr/>
          <p:nvPr/>
        </p:nvSpPr>
        <p:spPr>
          <a:xfrm>
            <a:off x="1280160" y="2715768"/>
            <a:ext cx="3566160" cy="676656"/>
          </a:xfrm>
          <a:prstGeom prst="rect">
            <a:avLst/>
          </a:prstGeom>
          <a:noFill/>
          <a:ln/>
        </p:spPr>
        <p:txBody>
          <a:bodyPr wrap="square" lIns="0" tIns="0" rIns="0" bIns="0" rtlCol="0" anchor="ctr"/>
          <a:lstStyle/>
          <a:p>
            <a:pPr marL="0" indent="0" algn="l">
              <a:buNone/>
            </a:pPr>
            <a:r>
              <a:rPr lang="en-US" sz="1600" b="1" dirty="0">
                <a:solidFill>
                  <a:srgbClr val="FFFFFF"/>
                </a:solidFill>
                <a:latin typeface="Cambria" pitchFamily="34" charset="0"/>
                <a:ea typeface="Cambria" pitchFamily="34" charset="-122"/>
                <a:cs typeface="Cambria" pitchFamily="34" charset="-120"/>
              </a:rPr>
              <a:t>Tables</a:t>
            </a:r>
            <a:endParaRPr lang="en-US" sz="1600" dirty="0"/>
          </a:p>
        </p:txBody>
      </p:sp>
      <p:sp>
        <p:nvSpPr>
          <p:cNvPr id="13" name="Text 11"/>
          <p:cNvSpPr/>
          <p:nvPr/>
        </p:nvSpPr>
        <p:spPr>
          <a:xfrm>
            <a:off x="5120640" y="2715768"/>
            <a:ext cx="5470855" cy="676656"/>
          </a:xfrm>
          <a:prstGeom prst="rect">
            <a:avLst/>
          </a:prstGeom>
          <a:noFill/>
          <a:ln/>
        </p:spPr>
        <p:txBody>
          <a:bodyPr wrap="square" lIns="0" tIns="0" rIns="0" bIns="0" rtlCol="0" anchor="ctr"/>
          <a:lstStyle/>
          <a:p>
            <a:pPr marL="0" indent="0" algn="l">
              <a:buNone/>
            </a:pPr>
            <a:r>
              <a:rPr lang="en-US" sz="1250" dirty="0">
                <a:solidFill>
                  <a:srgbClr val="AEB6DC"/>
                </a:solidFill>
                <a:latin typeface="Calibri" pitchFamily="34" charset="0"/>
                <a:ea typeface="Calibri" pitchFamily="34" charset="-122"/>
                <a:cs typeface="Calibri" pitchFamily="34" charset="-120"/>
              </a:rPr>
              <a:t>Store data for books, borrowers, borrowing records, and categories</a:t>
            </a:r>
            <a:endParaRPr lang="en-US" sz="1250" dirty="0"/>
          </a:p>
        </p:txBody>
      </p:sp>
      <p:sp>
        <p:nvSpPr>
          <p:cNvPr id="14" name="Shape 12"/>
          <p:cNvSpPr/>
          <p:nvPr/>
        </p:nvSpPr>
        <p:spPr>
          <a:xfrm>
            <a:off x="640080" y="3557016"/>
            <a:ext cx="10911535" cy="676656"/>
          </a:xfrm>
          <a:prstGeom prst="roundRect">
            <a:avLst>
              <a:gd name="adj" fmla="val 10811"/>
            </a:avLst>
          </a:prstGeom>
          <a:solidFill>
            <a:srgbClr val="20296B"/>
          </a:solidFill>
          <a:ln/>
        </p:spPr>
      </p:sp>
      <p:sp>
        <p:nvSpPr>
          <p:cNvPr id="15" name="Shape 13"/>
          <p:cNvSpPr/>
          <p:nvPr/>
        </p:nvSpPr>
        <p:spPr>
          <a:xfrm>
            <a:off x="822960" y="3767328"/>
            <a:ext cx="256032" cy="256032"/>
          </a:xfrm>
          <a:prstGeom prst="ellipse">
            <a:avLst/>
          </a:prstGeom>
          <a:solidFill>
            <a:srgbClr val="C9A227"/>
          </a:solidFill>
          <a:ln/>
        </p:spPr>
      </p:sp>
      <p:sp>
        <p:nvSpPr>
          <p:cNvPr id="16" name="Text 14"/>
          <p:cNvSpPr/>
          <p:nvPr/>
        </p:nvSpPr>
        <p:spPr>
          <a:xfrm>
            <a:off x="1280160" y="3557016"/>
            <a:ext cx="3566160" cy="676656"/>
          </a:xfrm>
          <a:prstGeom prst="rect">
            <a:avLst/>
          </a:prstGeom>
          <a:noFill/>
          <a:ln/>
        </p:spPr>
        <p:txBody>
          <a:bodyPr wrap="square" lIns="0" tIns="0" rIns="0" bIns="0" rtlCol="0" anchor="ctr"/>
          <a:lstStyle/>
          <a:p>
            <a:pPr marL="0" indent="0" algn="l">
              <a:buNone/>
            </a:pPr>
            <a:r>
              <a:rPr lang="en-US" sz="1600" b="1" dirty="0">
                <a:solidFill>
                  <a:srgbClr val="FFFFFF"/>
                </a:solidFill>
                <a:latin typeface="Cambria" pitchFamily="34" charset="0"/>
                <a:ea typeface="Cambria" pitchFamily="34" charset="-122"/>
                <a:cs typeface="Cambria" pitchFamily="34" charset="-120"/>
              </a:rPr>
              <a:t>Forms</a:t>
            </a:r>
            <a:endParaRPr lang="en-US" sz="1600" dirty="0"/>
          </a:p>
        </p:txBody>
      </p:sp>
      <p:sp>
        <p:nvSpPr>
          <p:cNvPr id="17" name="Text 15"/>
          <p:cNvSpPr/>
          <p:nvPr/>
        </p:nvSpPr>
        <p:spPr>
          <a:xfrm>
            <a:off x="5120640" y="3557016"/>
            <a:ext cx="5470855" cy="676656"/>
          </a:xfrm>
          <a:prstGeom prst="rect">
            <a:avLst/>
          </a:prstGeom>
          <a:noFill/>
          <a:ln/>
        </p:spPr>
        <p:txBody>
          <a:bodyPr wrap="square" lIns="0" tIns="0" rIns="0" bIns="0" rtlCol="0" anchor="ctr"/>
          <a:lstStyle/>
          <a:p>
            <a:pPr marL="0" indent="0" algn="l">
              <a:buNone/>
            </a:pPr>
            <a:r>
              <a:rPr lang="en-US" sz="1250" dirty="0">
                <a:solidFill>
                  <a:srgbClr val="AEB6DC"/>
                </a:solidFill>
                <a:latin typeface="Calibri" pitchFamily="34" charset="0"/>
                <a:ea typeface="Calibri" pitchFamily="34" charset="-122"/>
                <a:cs typeface="Calibri" pitchFamily="34" charset="-120"/>
              </a:rPr>
              <a:t>User-friendly interfaces for entering and viewing data</a:t>
            </a:r>
            <a:endParaRPr lang="en-US" sz="1250" dirty="0"/>
          </a:p>
        </p:txBody>
      </p:sp>
      <p:sp>
        <p:nvSpPr>
          <p:cNvPr id="18" name="Shape 16"/>
          <p:cNvSpPr/>
          <p:nvPr/>
        </p:nvSpPr>
        <p:spPr>
          <a:xfrm>
            <a:off x="640080" y="4398264"/>
            <a:ext cx="10911535" cy="676656"/>
          </a:xfrm>
          <a:prstGeom prst="roundRect">
            <a:avLst>
              <a:gd name="adj" fmla="val 10811"/>
            </a:avLst>
          </a:prstGeom>
          <a:solidFill>
            <a:srgbClr val="20296B"/>
          </a:solidFill>
          <a:ln/>
        </p:spPr>
      </p:sp>
      <p:sp>
        <p:nvSpPr>
          <p:cNvPr id="19" name="Shape 17"/>
          <p:cNvSpPr/>
          <p:nvPr/>
        </p:nvSpPr>
        <p:spPr>
          <a:xfrm>
            <a:off x="822960" y="4608576"/>
            <a:ext cx="256032" cy="256032"/>
          </a:xfrm>
          <a:prstGeom prst="ellipse">
            <a:avLst/>
          </a:prstGeom>
          <a:solidFill>
            <a:srgbClr val="C9A227"/>
          </a:solidFill>
          <a:ln/>
        </p:spPr>
      </p:sp>
      <p:sp>
        <p:nvSpPr>
          <p:cNvPr id="20" name="Text 18"/>
          <p:cNvSpPr/>
          <p:nvPr/>
        </p:nvSpPr>
        <p:spPr>
          <a:xfrm>
            <a:off x="1280160" y="4398264"/>
            <a:ext cx="3566160" cy="676656"/>
          </a:xfrm>
          <a:prstGeom prst="rect">
            <a:avLst/>
          </a:prstGeom>
          <a:noFill/>
          <a:ln/>
        </p:spPr>
        <p:txBody>
          <a:bodyPr wrap="square" lIns="0" tIns="0" rIns="0" bIns="0" rtlCol="0" anchor="ctr"/>
          <a:lstStyle/>
          <a:p>
            <a:pPr marL="0" indent="0" algn="l">
              <a:buNone/>
            </a:pPr>
            <a:r>
              <a:rPr lang="en-US" sz="1600" b="1" dirty="0">
                <a:solidFill>
                  <a:srgbClr val="FFFFFF"/>
                </a:solidFill>
                <a:latin typeface="Cambria" pitchFamily="34" charset="0"/>
                <a:ea typeface="Cambria" pitchFamily="34" charset="-122"/>
                <a:cs typeface="Cambria" pitchFamily="34" charset="-120"/>
              </a:rPr>
              <a:t>Queries</a:t>
            </a:r>
            <a:endParaRPr lang="en-US" sz="1600" dirty="0"/>
          </a:p>
        </p:txBody>
      </p:sp>
      <p:sp>
        <p:nvSpPr>
          <p:cNvPr id="21" name="Text 19"/>
          <p:cNvSpPr/>
          <p:nvPr/>
        </p:nvSpPr>
        <p:spPr>
          <a:xfrm>
            <a:off x="5120640" y="4398264"/>
            <a:ext cx="5470855" cy="676656"/>
          </a:xfrm>
          <a:prstGeom prst="rect">
            <a:avLst/>
          </a:prstGeom>
          <a:noFill/>
          <a:ln/>
        </p:spPr>
        <p:txBody>
          <a:bodyPr wrap="square" lIns="0" tIns="0" rIns="0" bIns="0" rtlCol="0" anchor="ctr"/>
          <a:lstStyle/>
          <a:p>
            <a:pPr marL="0" indent="0" algn="l">
              <a:buNone/>
            </a:pPr>
            <a:r>
              <a:rPr lang="en-US" sz="1250" dirty="0">
                <a:solidFill>
                  <a:srgbClr val="AEB6DC"/>
                </a:solidFill>
                <a:latin typeface="Calibri" pitchFamily="34" charset="0"/>
                <a:ea typeface="Calibri" pitchFamily="34" charset="-122"/>
                <a:cs typeface="Calibri" pitchFamily="34" charset="-120"/>
              </a:rPr>
              <a:t>Retrieve and filter data as needed</a:t>
            </a:r>
            <a:endParaRPr lang="en-US" sz="1250" dirty="0"/>
          </a:p>
        </p:txBody>
      </p:sp>
      <p:sp>
        <p:nvSpPr>
          <p:cNvPr id="22" name="Shape 20"/>
          <p:cNvSpPr/>
          <p:nvPr/>
        </p:nvSpPr>
        <p:spPr>
          <a:xfrm>
            <a:off x="640080" y="5239512"/>
            <a:ext cx="10911535" cy="676656"/>
          </a:xfrm>
          <a:prstGeom prst="roundRect">
            <a:avLst>
              <a:gd name="adj" fmla="val 10811"/>
            </a:avLst>
          </a:prstGeom>
          <a:solidFill>
            <a:srgbClr val="20296B"/>
          </a:solidFill>
          <a:ln/>
        </p:spPr>
      </p:sp>
      <p:sp>
        <p:nvSpPr>
          <p:cNvPr id="23" name="Shape 21"/>
          <p:cNvSpPr/>
          <p:nvPr/>
        </p:nvSpPr>
        <p:spPr>
          <a:xfrm>
            <a:off x="822960" y="5449824"/>
            <a:ext cx="256032" cy="256032"/>
          </a:xfrm>
          <a:prstGeom prst="ellipse">
            <a:avLst/>
          </a:prstGeom>
          <a:solidFill>
            <a:srgbClr val="C9A227"/>
          </a:solidFill>
          <a:ln/>
        </p:spPr>
      </p:sp>
      <p:sp>
        <p:nvSpPr>
          <p:cNvPr id="24" name="Text 22"/>
          <p:cNvSpPr/>
          <p:nvPr/>
        </p:nvSpPr>
        <p:spPr>
          <a:xfrm>
            <a:off x="1280160" y="5239512"/>
            <a:ext cx="3566160" cy="676656"/>
          </a:xfrm>
          <a:prstGeom prst="rect">
            <a:avLst/>
          </a:prstGeom>
          <a:noFill/>
          <a:ln/>
        </p:spPr>
        <p:txBody>
          <a:bodyPr wrap="square" lIns="0" tIns="0" rIns="0" bIns="0" rtlCol="0" anchor="ctr"/>
          <a:lstStyle/>
          <a:p>
            <a:pPr marL="0" indent="0" algn="l">
              <a:buNone/>
            </a:pPr>
            <a:r>
              <a:rPr lang="en-US" sz="1600" b="1" dirty="0">
                <a:solidFill>
                  <a:srgbClr val="FFFFFF"/>
                </a:solidFill>
                <a:latin typeface="Cambria" pitchFamily="34" charset="0"/>
                <a:ea typeface="Cambria" pitchFamily="34" charset="-122"/>
                <a:cs typeface="Cambria" pitchFamily="34" charset="-120"/>
              </a:rPr>
              <a:t>Relationships</a:t>
            </a:r>
            <a:endParaRPr lang="en-US" sz="1600" dirty="0"/>
          </a:p>
        </p:txBody>
      </p:sp>
      <p:sp>
        <p:nvSpPr>
          <p:cNvPr id="25" name="Text 23"/>
          <p:cNvSpPr/>
          <p:nvPr/>
        </p:nvSpPr>
        <p:spPr>
          <a:xfrm>
            <a:off x="5120640" y="5239512"/>
            <a:ext cx="5470855" cy="676656"/>
          </a:xfrm>
          <a:prstGeom prst="rect">
            <a:avLst/>
          </a:prstGeom>
          <a:noFill/>
          <a:ln/>
        </p:spPr>
        <p:txBody>
          <a:bodyPr wrap="square" lIns="0" tIns="0" rIns="0" bIns="0" rtlCol="0" anchor="ctr"/>
          <a:lstStyle/>
          <a:p>
            <a:pPr marL="0" indent="0" algn="l">
              <a:buNone/>
            </a:pPr>
            <a:r>
              <a:rPr lang="en-US" sz="1250" dirty="0">
                <a:solidFill>
                  <a:srgbClr val="AEB6DC"/>
                </a:solidFill>
                <a:latin typeface="Calibri" pitchFamily="34" charset="0"/>
                <a:ea typeface="Calibri" pitchFamily="34" charset="-122"/>
                <a:cs typeface="Calibri" pitchFamily="34" charset="-120"/>
              </a:rPr>
              <a:t>Link tables together and ensure data integrity</a:t>
            </a:r>
            <a:endParaRPr lang="en-US" sz="1250" dirty="0"/>
          </a:p>
        </p:txBody>
      </p:sp>
      <p:sp>
        <p:nvSpPr>
          <p:cNvPr id="26" name="Text 24"/>
          <p:cNvSpPr/>
          <p:nvPr/>
        </p:nvSpPr>
        <p:spPr>
          <a:xfrm>
            <a:off x="457200" y="6446520"/>
            <a:ext cx="7315200" cy="274320"/>
          </a:xfrm>
          <a:prstGeom prst="rect">
            <a:avLst/>
          </a:prstGeom>
          <a:noFill/>
          <a:ln/>
        </p:spPr>
        <p:txBody>
          <a:bodyPr wrap="square" lIns="0" tIns="0" rIns="0" bIns="0" rtlCol="0" anchor="ctr"/>
          <a:lstStyle/>
          <a:p>
            <a:pPr marL="0" indent="0" algn="l">
              <a:buNone/>
            </a:pPr>
            <a:r>
              <a:rPr lang="en-US" sz="900" dirty="0">
                <a:solidFill>
                  <a:srgbClr val="8A93B8"/>
                </a:solidFill>
                <a:latin typeface="Calibri" pitchFamily="34" charset="0"/>
                <a:ea typeface="Calibri" pitchFamily="34" charset="-122"/>
                <a:cs typeface="Calibri" pitchFamily="34" charset="-120"/>
              </a:rPr>
              <a:t>Library System — Database Management Project</a:t>
            </a:r>
            <a:endParaRPr lang="en-US" sz="900" dirty="0"/>
          </a:p>
        </p:txBody>
      </p:sp>
      <p:sp>
        <p:nvSpPr>
          <p:cNvPr id="27" name="Text 25"/>
          <p:cNvSpPr/>
          <p:nvPr/>
        </p:nvSpPr>
        <p:spPr>
          <a:xfrm>
            <a:off x="11277295" y="6446520"/>
            <a:ext cx="457200" cy="274320"/>
          </a:xfrm>
          <a:prstGeom prst="rect">
            <a:avLst/>
          </a:prstGeom>
          <a:noFill/>
          <a:ln/>
        </p:spPr>
        <p:txBody>
          <a:bodyPr wrap="square" lIns="0" tIns="0" rIns="0" bIns="0" rtlCol="0" anchor="ctr"/>
          <a:lstStyle/>
          <a:p>
            <a:pPr marL="0" indent="0" algn="r">
              <a:buNone/>
            </a:pPr>
            <a:r>
              <a:rPr lang="en-US" sz="900" dirty="0">
                <a:solidFill>
                  <a:srgbClr val="8A93B8"/>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0911535" cy="640080"/>
          </a:xfrm>
          <a:prstGeom prst="rect">
            <a:avLst/>
          </a:prstGeom>
          <a:noFill/>
          <a:ln/>
        </p:spPr>
        <p:txBody>
          <a:bodyPr wrap="square" lIns="0" tIns="0" rIns="0" bIns="0" rtlCol="0" anchor="ctr"/>
          <a:lstStyle/>
          <a:p>
            <a:pPr marL="0" indent="0" algn="l">
              <a:buNone/>
            </a:pPr>
            <a:r>
              <a:rPr lang="en-US" sz="3000" b="1" dirty="0">
                <a:solidFill>
                  <a:srgbClr val="1E2761"/>
                </a:solidFill>
                <a:latin typeface="Cambria" pitchFamily="34" charset="0"/>
                <a:ea typeface="Cambria" pitchFamily="34" charset="-122"/>
                <a:cs typeface="Cambria" pitchFamily="34" charset="-120"/>
              </a:rPr>
              <a:t>Database Design (ERD)</a:t>
            </a:r>
            <a:endParaRPr lang="en-US" sz="3000" dirty="0"/>
          </a:p>
        </p:txBody>
      </p:sp>
      <p:sp>
        <p:nvSpPr>
          <p:cNvPr id="3" name="Text 1"/>
          <p:cNvSpPr/>
          <p:nvPr/>
        </p:nvSpPr>
        <p:spPr>
          <a:xfrm>
            <a:off x="640080" y="1024128"/>
            <a:ext cx="10911535" cy="320040"/>
          </a:xfrm>
          <a:prstGeom prst="rect">
            <a:avLst/>
          </a:prstGeom>
          <a:noFill/>
          <a:ln/>
        </p:spPr>
        <p:txBody>
          <a:bodyPr wrap="square" lIns="0" tIns="0" rIns="0" bIns="0" rtlCol="0" anchor="ctr"/>
          <a:lstStyle/>
          <a:p>
            <a:pPr marL="0" indent="0" algn="l">
              <a:buNone/>
            </a:pPr>
            <a:r>
              <a:rPr lang="en-US" sz="1300" i="1" dirty="0">
                <a:solidFill>
                  <a:srgbClr val="C9A227"/>
                </a:solidFill>
                <a:latin typeface="Calibri" pitchFamily="34" charset="0"/>
                <a:ea typeface="Calibri" pitchFamily="34" charset="-122"/>
                <a:cs typeface="Calibri" pitchFamily="34" charset="-120"/>
              </a:rPr>
              <a:t>Tables &amp; Relationships</a:t>
            </a:r>
            <a:endParaRPr lang="en-US" sz="1300" dirty="0"/>
          </a:p>
        </p:txBody>
      </p:sp>
      <p:sp>
        <p:nvSpPr>
          <p:cNvPr id="4" name="Text 2"/>
          <p:cNvSpPr/>
          <p:nvPr/>
        </p:nvSpPr>
        <p:spPr>
          <a:xfrm>
            <a:off x="640080" y="1691640"/>
            <a:ext cx="10911535" cy="640080"/>
          </a:xfrm>
          <a:prstGeom prst="rect">
            <a:avLst/>
          </a:prstGeom>
          <a:noFill/>
          <a:ln/>
        </p:spPr>
        <p:txBody>
          <a:bodyPr wrap="square" lIns="0" tIns="0" rIns="0" bIns="0" rtlCol="0" anchor="ctr"/>
          <a:lstStyle/>
          <a:p>
            <a:pPr marL="0" indent="0" algn="l">
              <a:lnSpc>
                <a:spcPct val="130000"/>
              </a:lnSpc>
              <a:buNone/>
            </a:pPr>
            <a:r>
              <a:rPr lang="en-US" sz="1400" dirty="0">
                <a:solidFill>
                  <a:srgbClr val="5A6178"/>
                </a:solidFill>
                <a:latin typeface="Calibri" pitchFamily="34" charset="0"/>
                <a:ea typeface="Calibri" pitchFamily="34" charset="-122"/>
                <a:cs typeface="Calibri" pitchFamily="34" charset="-120"/>
              </a:rPr>
              <a:t>The database consists of four core tables linked through One-to-Many relationships via primary and foreign keys: the Borrowing table connects to both BOOK and BORROWER, while BOOK connects to Category.</a:t>
            </a:r>
            <a:endParaRPr lang="en-US" sz="1400" dirty="0"/>
          </a:p>
        </p:txBody>
      </p:sp>
      <p:sp>
        <p:nvSpPr>
          <p:cNvPr id="5" name="Shape 3"/>
          <p:cNvSpPr/>
          <p:nvPr/>
        </p:nvSpPr>
        <p:spPr>
          <a:xfrm>
            <a:off x="822960" y="2423160"/>
            <a:ext cx="10545775" cy="3977640"/>
          </a:xfrm>
          <a:prstGeom prst="roundRect">
            <a:avLst>
              <a:gd name="adj" fmla="val 1839"/>
            </a:avLst>
          </a:prstGeom>
          <a:solidFill>
            <a:srgbClr val="F5F7FC"/>
          </a:solidFill>
          <a:ln w="12700">
            <a:solidFill>
              <a:srgbClr val="CADCFC"/>
            </a:solidFill>
            <a:prstDash val="solid"/>
          </a:ln>
        </p:spPr>
      </p:sp>
      <p:pic>
        <p:nvPicPr>
          <p:cNvPr id="6" name="Image 0" descr="IMG_4761.jpeg"/>
          <p:cNvPicPr>
            <a:picLocks noChangeAspect="1"/>
          </p:cNvPicPr>
          <p:nvPr/>
        </p:nvPicPr>
        <p:blipFill>
          <a:blip r:embed="rId3"/>
          <a:srcRect l="-94400" r="-94400"/>
          <a:stretch/>
        </p:blipFill>
        <p:spPr>
          <a:xfrm>
            <a:off x="1143000" y="2697480"/>
            <a:ext cx="9902952" cy="3429000"/>
          </a:xfrm>
          <a:prstGeom prst="rect">
            <a:avLst/>
          </a:prstGeom>
        </p:spPr>
      </p:pic>
      <p:sp>
        <p:nvSpPr>
          <p:cNvPr id="7" name="Text 4"/>
          <p:cNvSpPr/>
          <p:nvPr/>
        </p:nvSpPr>
        <p:spPr>
          <a:xfrm>
            <a:off x="457200" y="6446520"/>
            <a:ext cx="7315200" cy="274320"/>
          </a:xfrm>
          <a:prstGeom prst="rect">
            <a:avLst/>
          </a:prstGeom>
          <a:noFill/>
          <a:ln/>
        </p:spPr>
        <p:txBody>
          <a:bodyPr wrap="square" lIns="0" tIns="0" rIns="0" bIns="0" rtlCol="0" anchor="ctr"/>
          <a:lstStyle/>
          <a:p>
            <a:pPr marL="0" indent="0" algn="l">
              <a:buNone/>
            </a:pPr>
            <a:r>
              <a:rPr lang="en-US" sz="900" dirty="0">
                <a:solidFill>
                  <a:srgbClr val="5A6178"/>
                </a:solidFill>
                <a:latin typeface="Calibri" pitchFamily="34" charset="0"/>
                <a:ea typeface="Calibri" pitchFamily="34" charset="-122"/>
                <a:cs typeface="Calibri" pitchFamily="34" charset="-120"/>
              </a:rPr>
              <a:t>Library System — Database Management Project</a:t>
            </a:r>
            <a:endParaRPr lang="en-US" sz="900" dirty="0"/>
          </a:p>
        </p:txBody>
      </p:sp>
      <p:sp>
        <p:nvSpPr>
          <p:cNvPr id="8" name="Text 5"/>
          <p:cNvSpPr/>
          <p:nvPr/>
        </p:nvSpPr>
        <p:spPr>
          <a:xfrm>
            <a:off x="11277295" y="6446520"/>
            <a:ext cx="457200" cy="274320"/>
          </a:xfrm>
          <a:prstGeom prst="rect">
            <a:avLst/>
          </a:prstGeom>
          <a:noFill/>
          <a:ln/>
        </p:spPr>
        <p:txBody>
          <a:bodyPr wrap="square" lIns="0" tIns="0" rIns="0" bIns="0" rtlCol="0" anchor="ctr"/>
          <a:lstStyle/>
          <a:p>
            <a:pPr marL="0" indent="0" algn="r">
              <a:buNone/>
            </a:pPr>
            <a:r>
              <a:rPr lang="en-US" sz="900" dirty="0">
                <a:solidFill>
                  <a:srgbClr val="5A6178"/>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0911535" cy="640080"/>
          </a:xfrm>
          <a:prstGeom prst="rect">
            <a:avLst/>
          </a:prstGeom>
          <a:noFill/>
          <a:ln/>
        </p:spPr>
        <p:txBody>
          <a:bodyPr wrap="square" lIns="0" tIns="0" rIns="0" bIns="0" rtlCol="0" anchor="ctr"/>
          <a:lstStyle/>
          <a:p>
            <a:pPr marL="0" indent="0" algn="l">
              <a:buNone/>
            </a:pPr>
            <a:r>
              <a:rPr lang="en-US" sz="3000" b="1" dirty="0">
                <a:solidFill>
                  <a:srgbClr val="1E2761"/>
                </a:solidFill>
                <a:latin typeface="Cambria" pitchFamily="34" charset="0"/>
                <a:ea typeface="Cambria" pitchFamily="34" charset="-122"/>
                <a:cs typeface="Cambria" pitchFamily="34" charset="-120"/>
              </a:rPr>
              <a:t>Core Tables</a:t>
            </a:r>
            <a:endParaRPr lang="en-US" sz="3000" dirty="0"/>
          </a:p>
        </p:txBody>
      </p:sp>
      <p:sp>
        <p:nvSpPr>
          <p:cNvPr id="3" name="Text 1"/>
          <p:cNvSpPr/>
          <p:nvPr/>
        </p:nvSpPr>
        <p:spPr>
          <a:xfrm>
            <a:off x="640080" y="1024128"/>
            <a:ext cx="10911535" cy="320040"/>
          </a:xfrm>
          <a:prstGeom prst="rect">
            <a:avLst/>
          </a:prstGeom>
          <a:noFill/>
          <a:ln/>
        </p:spPr>
        <p:txBody>
          <a:bodyPr wrap="square" lIns="0" tIns="0" rIns="0" bIns="0" rtlCol="0" anchor="ctr"/>
          <a:lstStyle/>
          <a:p>
            <a:pPr marL="0" indent="0" algn="l">
              <a:buNone/>
            </a:pPr>
            <a:r>
              <a:rPr lang="en-US" sz="1300" i="1" dirty="0">
                <a:solidFill>
                  <a:srgbClr val="C9A227"/>
                </a:solidFill>
                <a:latin typeface="Calibri" pitchFamily="34" charset="0"/>
                <a:ea typeface="Calibri" pitchFamily="34" charset="-122"/>
                <a:cs typeface="Calibri" pitchFamily="34" charset="-120"/>
              </a:rPr>
              <a:t>Structure at a Glance</a:t>
            </a:r>
            <a:endParaRPr lang="en-US" sz="1300" dirty="0"/>
          </a:p>
        </p:txBody>
      </p:sp>
      <p:sp>
        <p:nvSpPr>
          <p:cNvPr id="4" name="Shape 2"/>
          <p:cNvSpPr/>
          <p:nvPr/>
        </p:nvSpPr>
        <p:spPr>
          <a:xfrm>
            <a:off x="640080" y="1783080"/>
            <a:ext cx="5257800" cy="1965960"/>
          </a:xfrm>
          <a:prstGeom prst="roundRect">
            <a:avLst>
              <a:gd name="adj" fmla="val 4651"/>
            </a:avLst>
          </a:prstGeom>
          <a:solidFill>
            <a:srgbClr val="1E2761"/>
          </a:solidFill>
          <a:ln/>
        </p:spPr>
      </p:sp>
      <p:sp>
        <p:nvSpPr>
          <p:cNvPr id="5" name="Shape 3"/>
          <p:cNvSpPr/>
          <p:nvPr/>
        </p:nvSpPr>
        <p:spPr>
          <a:xfrm>
            <a:off x="914400" y="2039112"/>
            <a:ext cx="1508760" cy="457200"/>
          </a:xfrm>
          <a:prstGeom prst="roundRect">
            <a:avLst>
              <a:gd name="adj" fmla="val 50000"/>
            </a:avLst>
          </a:prstGeom>
          <a:solidFill>
            <a:srgbClr val="C9A227"/>
          </a:solidFill>
          <a:ln/>
        </p:spPr>
      </p:sp>
      <p:sp>
        <p:nvSpPr>
          <p:cNvPr id="6" name="Text 4"/>
          <p:cNvSpPr/>
          <p:nvPr/>
        </p:nvSpPr>
        <p:spPr>
          <a:xfrm>
            <a:off x="914400" y="2039112"/>
            <a:ext cx="1508760" cy="457200"/>
          </a:xfrm>
          <a:prstGeom prst="rect">
            <a:avLst/>
          </a:prstGeom>
          <a:noFill/>
          <a:ln/>
        </p:spPr>
        <p:txBody>
          <a:bodyPr wrap="square" lIns="0" tIns="0" rIns="0" bIns="0" rtlCol="0" anchor="ctr"/>
          <a:lstStyle/>
          <a:p>
            <a:pPr marL="0" indent="0" algn="ctr">
              <a:buNone/>
            </a:pPr>
            <a:r>
              <a:rPr lang="en-US" sz="1400" b="1" dirty="0">
                <a:solidFill>
                  <a:srgbClr val="141B4D"/>
                </a:solidFill>
                <a:latin typeface="Cambria" pitchFamily="34" charset="0"/>
                <a:ea typeface="Cambria" pitchFamily="34" charset="-122"/>
                <a:cs typeface="Cambria" pitchFamily="34" charset="-120"/>
              </a:rPr>
              <a:t>BOOK</a:t>
            </a:r>
            <a:endParaRPr lang="en-US" sz="1400" dirty="0"/>
          </a:p>
        </p:txBody>
      </p:sp>
      <p:sp>
        <p:nvSpPr>
          <p:cNvPr id="7" name="Text 5"/>
          <p:cNvSpPr/>
          <p:nvPr/>
        </p:nvSpPr>
        <p:spPr>
          <a:xfrm>
            <a:off x="914400" y="2651760"/>
            <a:ext cx="4709160" cy="960120"/>
          </a:xfrm>
          <a:prstGeom prst="rect">
            <a:avLst/>
          </a:prstGeom>
          <a:noFill/>
          <a:ln/>
        </p:spPr>
        <p:txBody>
          <a:bodyPr wrap="square" lIns="0" tIns="0" rIns="0" bIns="0" rtlCol="0" anchor="t"/>
          <a:lstStyle/>
          <a:p>
            <a:pPr marL="0" indent="0" algn="l">
              <a:lnSpc>
                <a:spcPct val="135000"/>
              </a:lnSpc>
              <a:buNone/>
            </a:pPr>
            <a:r>
              <a:rPr lang="en-US" sz="1250" dirty="0">
                <a:solidFill>
                  <a:srgbClr val="CADCFC"/>
                </a:solidFill>
                <a:latin typeface="Calibri" pitchFamily="34" charset="0"/>
                <a:ea typeface="Calibri" pitchFamily="34" charset="-122"/>
                <a:cs typeface="Calibri" pitchFamily="34" charset="-120"/>
              </a:rPr>
              <a:t>ID  •  Title  •  Author  •  Publisher  •  YearPublisher  •  Category</a:t>
            </a:r>
            <a:endParaRPr lang="en-US" sz="1250" dirty="0"/>
          </a:p>
        </p:txBody>
      </p:sp>
      <p:sp>
        <p:nvSpPr>
          <p:cNvPr id="8" name="Shape 6"/>
          <p:cNvSpPr/>
          <p:nvPr/>
        </p:nvSpPr>
        <p:spPr>
          <a:xfrm>
            <a:off x="6217920" y="1783080"/>
            <a:ext cx="5257800" cy="1965960"/>
          </a:xfrm>
          <a:prstGeom prst="roundRect">
            <a:avLst>
              <a:gd name="adj" fmla="val 4651"/>
            </a:avLst>
          </a:prstGeom>
          <a:solidFill>
            <a:srgbClr val="1E2761"/>
          </a:solidFill>
          <a:ln/>
        </p:spPr>
      </p:sp>
      <p:sp>
        <p:nvSpPr>
          <p:cNvPr id="9" name="Shape 7"/>
          <p:cNvSpPr/>
          <p:nvPr/>
        </p:nvSpPr>
        <p:spPr>
          <a:xfrm>
            <a:off x="6492240" y="2039112"/>
            <a:ext cx="1508760" cy="457200"/>
          </a:xfrm>
          <a:prstGeom prst="roundRect">
            <a:avLst>
              <a:gd name="adj" fmla="val 50000"/>
            </a:avLst>
          </a:prstGeom>
          <a:solidFill>
            <a:srgbClr val="C9A227"/>
          </a:solidFill>
          <a:ln/>
        </p:spPr>
      </p:sp>
      <p:sp>
        <p:nvSpPr>
          <p:cNvPr id="10" name="Text 8"/>
          <p:cNvSpPr/>
          <p:nvPr/>
        </p:nvSpPr>
        <p:spPr>
          <a:xfrm>
            <a:off x="6492240" y="2039112"/>
            <a:ext cx="1508760" cy="457200"/>
          </a:xfrm>
          <a:prstGeom prst="rect">
            <a:avLst/>
          </a:prstGeom>
          <a:noFill/>
          <a:ln/>
        </p:spPr>
        <p:txBody>
          <a:bodyPr wrap="square" lIns="0" tIns="0" rIns="0" bIns="0" rtlCol="0" anchor="ctr"/>
          <a:lstStyle/>
          <a:p>
            <a:pPr marL="0" indent="0" algn="ctr">
              <a:buNone/>
            </a:pPr>
            <a:r>
              <a:rPr lang="en-US" sz="1400" b="1" dirty="0">
                <a:solidFill>
                  <a:srgbClr val="141B4D"/>
                </a:solidFill>
                <a:latin typeface="Cambria" pitchFamily="34" charset="0"/>
                <a:ea typeface="Cambria" pitchFamily="34" charset="-122"/>
                <a:cs typeface="Cambria" pitchFamily="34" charset="-120"/>
              </a:rPr>
              <a:t>BORROWER</a:t>
            </a:r>
            <a:endParaRPr lang="en-US" sz="1400" dirty="0"/>
          </a:p>
        </p:txBody>
      </p:sp>
      <p:sp>
        <p:nvSpPr>
          <p:cNvPr id="11" name="Text 9"/>
          <p:cNvSpPr/>
          <p:nvPr/>
        </p:nvSpPr>
        <p:spPr>
          <a:xfrm>
            <a:off x="6492240" y="2651760"/>
            <a:ext cx="4709160" cy="960120"/>
          </a:xfrm>
          <a:prstGeom prst="rect">
            <a:avLst/>
          </a:prstGeom>
          <a:noFill/>
          <a:ln/>
        </p:spPr>
        <p:txBody>
          <a:bodyPr wrap="square" lIns="0" tIns="0" rIns="0" bIns="0" rtlCol="0" anchor="t"/>
          <a:lstStyle/>
          <a:p>
            <a:pPr marL="0" indent="0" algn="l">
              <a:lnSpc>
                <a:spcPct val="135000"/>
              </a:lnSpc>
              <a:buNone/>
            </a:pPr>
            <a:r>
              <a:rPr lang="en-US" sz="1250" dirty="0">
                <a:solidFill>
                  <a:srgbClr val="CADCFC"/>
                </a:solidFill>
                <a:latin typeface="Calibri" pitchFamily="34" charset="0"/>
                <a:ea typeface="Calibri" pitchFamily="34" charset="-122"/>
                <a:cs typeface="Calibri" pitchFamily="34" charset="-120"/>
              </a:rPr>
              <a:t>ID  •  FirstName  •  LastName  •  PhoneNumber  •  Email  •  Address</a:t>
            </a:r>
            <a:endParaRPr lang="en-US" sz="1250" dirty="0"/>
          </a:p>
        </p:txBody>
      </p:sp>
      <p:sp>
        <p:nvSpPr>
          <p:cNvPr id="12" name="Shape 10"/>
          <p:cNvSpPr/>
          <p:nvPr/>
        </p:nvSpPr>
        <p:spPr>
          <a:xfrm>
            <a:off x="640080" y="4069080"/>
            <a:ext cx="5257800" cy="1965960"/>
          </a:xfrm>
          <a:prstGeom prst="roundRect">
            <a:avLst>
              <a:gd name="adj" fmla="val 4651"/>
            </a:avLst>
          </a:prstGeom>
          <a:solidFill>
            <a:srgbClr val="1E2761"/>
          </a:solidFill>
          <a:ln/>
        </p:spPr>
      </p:sp>
      <p:sp>
        <p:nvSpPr>
          <p:cNvPr id="13" name="Shape 11"/>
          <p:cNvSpPr/>
          <p:nvPr/>
        </p:nvSpPr>
        <p:spPr>
          <a:xfrm>
            <a:off x="914400" y="4325112"/>
            <a:ext cx="1508760" cy="457200"/>
          </a:xfrm>
          <a:prstGeom prst="roundRect">
            <a:avLst>
              <a:gd name="adj" fmla="val 50000"/>
            </a:avLst>
          </a:prstGeom>
          <a:solidFill>
            <a:srgbClr val="C9A227"/>
          </a:solidFill>
          <a:ln/>
        </p:spPr>
      </p:sp>
      <p:sp>
        <p:nvSpPr>
          <p:cNvPr id="14" name="Text 12"/>
          <p:cNvSpPr/>
          <p:nvPr/>
        </p:nvSpPr>
        <p:spPr>
          <a:xfrm>
            <a:off x="914400" y="4325112"/>
            <a:ext cx="1508760" cy="457200"/>
          </a:xfrm>
          <a:prstGeom prst="rect">
            <a:avLst/>
          </a:prstGeom>
          <a:noFill/>
          <a:ln/>
        </p:spPr>
        <p:txBody>
          <a:bodyPr wrap="square" lIns="0" tIns="0" rIns="0" bIns="0" rtlCol="0" anchor="ctr"/>
          <a:lstStyle/>
          <a:p>
            <a:pPr marL="0" indent="0" algn="ctr">
              <a:buNone/>
            </a:pPr>
            <a:r>
              <a:rPr lang="en-US" sz="1400" b="1" dirty="0">
                <a:solidFill>
                  <a:srgbClr val="141B4D"/>
                </a:solidFill>
                <a:latin typeface="Cambria" pitchFamily="34" charset="0"/>
                <a:ea typeface="Cambria" pitchFamily="34" charset="-122"/>
                <a:cs typeface="Cambria" pitchFamily="34" charset="-120"/>
              </a:rPr>
              <a:t>Borrowing</a:t>
            </a:r>
            <a:endParaRPr lang="en-US" sz="1400" dirty="0"/>
          </a:p>
        </p:txBody>
      </p:sp>
      <p:sp>
        <p:nvSpPr>
          <p:cNvPr id="15" name="Text 13"/>
          <p:cNvSpPr/>
          <p:nvPr/>
        </p:nvSpPr>
        <p:spPr>
          <a:xfrm>
            <a:off x="914400" y="4937760"/>
            <a:ext cx="4709160" cy="960120"/>
          </a:xfrm>
          <a:prstGeom prst="rect">
            <a:avLst/>
          </a:prstGeom>
          <a:noFill/>
          <a:ln/>
        </p:spPr>
        <p:txBody>
          <a:bodyPr wrap="square" lIns="0" tIns="0" rIns="0" bIns="0" rtlCol="0" anchor="t"/>
          <a:lstStyle/>
          <a:p>
            <a:pPr marL="0" indent="0" algn="l">
              <a:lnSpc>
                <a:spcPct val="135000"/>
              </a:lnSpc>
              <a:buNone/>
            </a:pPr>
            <a:r>
              <a:rPr lang="en-US" sz="1250" dirty="0">
                <a:solidFill>
                  <a:srgbClr val="CADCFC"/>
                </a:solidFill>
                <a:latin typeface="Calibri" pitchFamily="34" charset="0"/>
                <a:ea typeface="Calibri" pitchFamily="34" charset="-122"/>
                <a:cs typeface="Calibri" pitchFamily="34" charset="-120"/>
              </a:rPr>
              <a:t>ID  •  BookID  •  BorrowerID  •  BorrowerDate  •  DueDate  •  ReturnDate</a:t>
            </a:r>
            <a:endParaRPr lang="en-US" sz="1250" dirty="0"/>
          </a:p>
        </p:txBody>
      </p:sp>
      <p:sp>
        <p:nvSpPr>
          <p:cNvPr id="16" name="Shape 14"/>
          <p:cNvSpPr/>
          <p:nvPr/>
        </p:nvSpPr>
        <p:spPr>
          <a:xfrm>
            <a:off x="6217920" y="4069080"/>
            <a:ext cx="5257800" cy="1965960"/>
          </a:xfrm>
          <a:prstGeom prst="roundRect">
            <a:avLst>
              <a:gd name="adj" fmla="val 4651"/>
            </a:avLst>
          </a:prstGeom>
          <a:solidFill>
            <a:srgbClr val="1E2761"/>
          </a:solidFill>
          <a:ln/>
        </p:spPr>
      </p:sp>
      <p:sp>
        <p:nvSpPr>
          <p:cNvPr id="17" name="Shape 15"/>
          <p:cNvSpPr/>
          <p:nvPr/>
        </p:nvSpPr>
        <p:spPr>
          <a:xfrm>
            <a:off x="6492240" y="4325112"/>
            <a:ext cx="1508760" cy="457200"/>
          </a:xfrm>
          <a:prstGeom prst="roundRect">
            <a:avLst>
              <a:gd name="adj" fmla="val 50000"/>
            </a:avLst>
          </a:prstGeom>
          <a:solidFill>
            <a:srgbClr val="C9A227"/>
          </a:solidFill>
          <a:ln/>
        </p:spPr>
      </p:sp>
      <p:sp>
        <p:nvSpPr>
          <p:cNvPr id="18" name="Text 16"/>
          <p:cNvSpPr/>
          <p:nvPr/>
        </p:nvSpPr>
        <p:spPr>
          <a:xfrm>
            <a:off x="6492240" y="4325112"/>
            <a:ext cx="1508760" cy="457200"/>
          </a:xfrm>
          <a:prstGeom prst="rect">
            <a:avLst/>
          </a:prstGeom>
          <a:noFill/>
          <a:ln/>
        </p:spPr>
        <p:txBody>
          <a:bodyPr wrap="square" lIns="0" tIns="0" rIns="0" bIns="0" rtlCol="0" anchor="ctr"/>
          <a:lstStyle/>
          <a:p>
            <a:pPr marL="0" indent="0" algn="ctr">
              <a:buNone/>
            </a:pPr>
            <a:r>
              <a:rPr lang="en-US" sz="1400" b="1" dirty="0">
                <a:solidFill>
                  <a:srgbClr val="141B4D"/>
                </a:solidFill>
                <a:latin typeface="Cambria" pitchFamily="34" charset="0"/>
                <a:ea typeface="Cambria" pitchFamily="34" charset="-122"/>
                <a:cs typeface="Cambria" pitchFamily="34" charset="-120"/>
              </a:rPr>
              <a:t>Category</a:t>
            </a:r>
            <a:endParaRPr lang="en-US" sz="1400" dirty="0"/>
          </a:p>
        </p:txBody>
      </p:sp>
      <p:sp>
        <p:nvSpPr>
          <p:cNvPr id="19" name="Text 17"/>
          <p:cNvSpPr/>
          <p:nvPr/>
        </p:nvSpPr>
        <p:spPr>
          <a:xfrm>
            <a:off x="6492240" y="4937760"/>
            <a:ext cx="4709160" cy="960120"/>
          </a:xfrm>
          <a:prstGeom prst="rect">
            <a:avLst/>
          </a:prstGeom>
          <a:noFill/>
          <a:ln/>
        </p:spPr>
        <p:txBody>
          <a:bodyPr wrap="square" lIns="0" tIns="0" rIns="0" bIns="0" rtlCol="0" anchor="t"/>
          <a:lstStyle/>
          <a:p>
            <a:pPr marL="0" indent="0" algn="l">
              <a:lnSpc>
                <a:spcPct val="135000"/>
              </a:lnSpc>
              <a:buNone/>
            </a:pPr>
            <a:r>
              <a:rPr lang="en-US" sz="1250" dirty="0">
                <a:solidFill>
                  <a:srgbClr val="CADCFC"/>
                </a:solidFill>
                <a:latin typeface="Calibri" pitchFamily="34" charset="0"/>
                <a:ea typeface="Calibri" pitchFamily="34" charset="-122"/>
                <a:cs typeface="Calibri" pitchFamily="34" charset="-120"/>
              </a:rPr>
              <a:t>CategoryID  •  CategoryName  •  Description</a:t>
            </a:r>
            <a:endParaRPr lang="en-US" sz="1250" dirty="0"/>
          </a:p>
        </p:txBody>
      </p:sp>
      <p:sp>
        <p:nvSpPr>
          <p:cNvPr id="20" name="Text 18"/>
          <p:cNvSpPr/>
          <p:nvPr/>
        </p:nvSpPr>
        <p:spPr>
          <a:xfrm>
            <a:off x="457200" y="6446520"/>
            <a:ext cx="7315200" cy="274320"/>
          </a:xfrm>
          <a:prstGeom prst="rect">
            <a:avLst/>
          </a:prstGeom>
          <a:noFill/>
          <a:ln/>
        </p:spPr>
        <p:txBody>
          <a:bodyPr wrap="square" lIns="0" tIns="0" rIns="0" bIns="0" rtlCol="0" anchor="ctr"/>
          <a:lstStyle/>
          <a:p>
            <a:pPr marL="0" indent="0" algn="l">
              <a:buNone/>
            </a:pPr>
            <a:r>
              <a:rPr lang="en-US" sz="900" dirty="0">
                <a:solidFill>
                  <a:srgbClr val="5A6178"/>
                </a:solidFill>
                <a:latin typeface="Calibri" pitchFamily="34" charset="0"/>
                <a:ea typeface="Calibri" pitchFamily="34" charset="-122"/>
                <a:cs typeface="Calibri" pitchFamily="34" charset="-120"/>
              </a:rPr>
              <a:t>Library System — Database Management Project</a:t>
            </a:r>
            <a:endParaRPr lang="en-US" sz="900" dirty="0"/>
          </a:p>
        </p:txBody>
      </p:sp>
      <p:sp>
        <p:nvSpPr>
          <p:cNvPr id="21" name="Text 19"/>
          <p:cNvSpPr/>
          <p:nvPr/>
        </p:nvSpPr>
        <p:spPr>
          <a:xfrm>
            <a:off x="11277295" y="6446520"/>
            <a:ext cx="457200" cy="274320"/>
          </a:xfrm>
          <a:prstGeom prst="rect">
            <a:avLst/>
          </a:prstGeom>
          <a:noFill/>
          <a:ln/>
        </p:spPr>
        <p:txBody>
          <a:bodyPr wrap="square" lIns="0" tIns="0" rIns="0" bIns="0" rtlCol="0" anchor="ctr"/>
          <a:lstStyle/>
          <a:p>
            <a:pPr marL="0" indent="0" algn="r">
              <a:buNone/>
            </a:pPr>
            <a:r>
              <a:rPr lang="en-US" sz="900" dirty="0">
                <a:solidFill>
                  <a:srgbClr val="5A6178"/>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0911535" cy="640080"/>
          </a:xfrm>
          <a:prstGeom prst="rect">
            <a:avLst/>
          </a:prstGeom>
          <a:noFill/>
          <a:ln/>
        </p:spPr>
        <p:txBody>
          <a:bodyPr wrap="square" lIns="0" tIns="0" rIns="0" bIns="0" rtlCol="0" anchor="ctr"/>
          <a:lstStyle/>
          <a:p>
            <a:pPr marL="0" indent="0" algn="l">
              <a:buNone/>
            </a:pPr>
            <a:r>
              <a:rPr lang="en-US" sz="3000" b="1" dirty="0">
                <a:solidFill>
                  <a:srgbClr val="1E2761"/>
                </a:solidFill>
                <a:latin typeface="Cambria" pitchFamily="34" charset="0"/>
                <a:ea typeface="Cambria" pitchFamily="34" charset="-122"/>
                <a:cs typeface="Cambria" pitchFamily="34" charset="-120"/>
              </a:rPr>
              <a:t>Data Entry Forms</a:t>
            </a:r>
            <a:endParaRPr lang="en-US" sz="3000" dirty="0"/>
          </a:p>
        </p:txBody>
      </p:sp>
      <p:sp>
        <p:nvSpPr>
          <p:cNvPr id="3" name="Text 1"/>
          <p:cNvSpPr/>
          <p:nvPr/>
        </p:nvSpPr>
        <p:spPr>
          <a:xfrm>
            <a:off x="640080" y="1024128"/>
            <a:ext cx="10911535" cy="320040"/>
          </a:xfrm>
          <a:prstGeom prst="rect">
            <a:avLst/>
          </a:prstGeom>
          <a:noFill/>
          <a:ln/>
        </p:spPr>
        <p:txBody>
          <a:bodyPr wrap="square" lIns="0" tIns="0" rIns="0" bIns="0" rtlCol="0" anchor="ctr"/>
          <a:lstStyle/>
          <a:p>
            <a:pPr marL="0" indent="0" algn="l">
              <a:buNone/>
            </a:pPr>
            <a:r>
              <a:rPr lang="en-US" sz="1300" i="1" dirty="0">
                <a:solidFill>
                  <a:srgbClr val="C9A227"/>
                </a:solidFill>
                <a:latin typeface="Calibri" pitchFamily="34" charset="0"/>
                <a:ea typeface="Calibri" pitchFamily="34" charset="-122"/>
                <a:cs typeface="Calibri" pitchFamily="34" charset="-120"/>
              </a:rPr>
              <a:t>Interfaces for Working with the Database</a:t>
            </a:r>
            <a:endParaRPr lang="en-US" sz="1300" dirty="0"/>
          </a:p>
        </p:txBody>
      </p:sp>
      <p:sp>
        <p:nvSpPr>
          <p:cNvPr id="4" name="Shape 2"/>
          <p:cNvSpPr/>
          <p:nvPr/>
        </p:nvSpPr>
        <p:spPr>
          <a:xfrm>
            <a:off x="566928" y="1847088"/>
            <a:ext cx="3666744" cy="2027539"/>
          </a:xfrm>
          <a:prstGeom prst="roundRect">
            <a:avLst>
              <a:gd name="adj" fmla="val 2706"/>
            </a:avLst>
          </a:prstGeom>
          <a:solidFill>
            <a:srgbClr val="F5F7FC"/>
          </a:solidFill>
          <a:ln w="12700">
            <a:solidFill>
              <a:srgbClr val="CADCFC"/>
            </a:solidFill>
            <a:prstDash val="solid"/>
          </a:ln>
        </p:spPr>
      </p:sp>
      <p:pic>
        <p:nvPicPr>
          <p:cNvPr id="5" name="Image 0" descr="IMG_4777.jpeg"/>
          <p:cNvPicPr>
            <a:picLocks noChangeAspect="1"/>
          </p:cNvPicPr>
          <p:nvPr/>
        </p:nvPicPr>
        <p:blipFill>
          <a:blip r:embed="rId3"/>
          <a:stretch>
            <a:fillRect/>
          </a:stretch>
        </p:blipFill>
        <p:spPr>
          <a:xfrm>
            <a:off x="640080" y="1920240"/>
            <a:ext cx="3520440" cy="1881235"/>
          </a:xfrm>
          <a:prstGeom prst="rect">
            <a:avLst/>
          </a:prstGeom>
        </p:spPr>
      </p:pic>
      <p:sp>
        <p:nvSpPr>
          <p:cNvPr id="6" name="Text 3"/>
          <p:cNvSpPr/>
          <p:nvPr/>
        </p:nvSpPr>
        <p:spPr>
          <a:xfrm>
            <a:off x="548640" y="3938635"/>
            <a:ext cx="3703320" cy="365760"/>
          </a:xfrm>
          <a:prstGeom prst="rect">
            <a:avLst/>
          </a:prstGeom>
          <a:noFill/>
          <a:ln/>
        </p:spPr>
        <p:txBody>
          <a:bodyPr wrap="square" lIns="0" tIns="0" rIns="0" bIns="0" rtlCol="0" anchor="ctr"/>
          <a:lstStyle/>
          <a:p>
            <a:pPr marL="0" indent="0" algn="ctr">
              <a:buNone/>
            </a:pPr>
            <a:r>
              <a:rPr lang="en-US" sz="1300" b="1" dirty="0">
                <a:solidFill>
                  <a:srgbClr val="1E2761"/>
                </a:solidFill>
                <a:latin typeface="Calibri" pitchFamily="34" charset="0"/>
                <a:ea typeface="Calibri" pitchFamily="34" charset="-122"/>
                <a:cs typeface="Calibri" pitchFamily="34" charset="-120"/>
              </a:rPr>
              <a:t>BOOK Form</a:t>
            </a:r>
            <a:endParaRPr lang="en-US" sz="1300" dirty="0"/>
          </a:p>
        </p:txBody>
      </p:sp>
      <p:sp>
        <p:nvSpPr>
          <p:cNvPr id="7" name="Shape 4"/>
          <p:cNvSpPr/>
          <p:nvPr/>
        </p:nvSpPr>
        <p:spPr>
          <a:xfrm>
            <a:off x="4262476" y="1847088"/>
            <a:ext cx="3666744" cy="2027539"/>
          </a:xfrm>
          <a:prstGeom prst="roundRect">
            <a:avLst>
              <a:gd name="adj" fmla="val 2706"/>
            </a:avLst>
          </a:prstGeom>
          <a:solidFill>
            <a:srgbClr val="F5F7FC"/>
          </a:solidFill>
          <a:ln w="12700">
            <a:solidFill>
              <a:srgbClr val="CADCFC"/>
            </a:solidFill>
            <a:prstDash val="solid"/>
          </a:ln>
        </p:spPr>
      </p:sp>
      <p:pic>
        <p:nvPicPr>
          <p:cNvPr id="8" name="Image 1" descr="IMG_4778.jpeg"/>
          <p:cNvPicPr>
            <a:picLocks noChangeAspect="1"/>
          </p:cNvPicPr>
          <p:nvPr/>
        </p:nvPicPr>
        <p:blipFill>
          <a:blip r:embed="rId4"/>
          <a:stretch>
            <a:fillRect/>
          </a:stretch>
        </p:blipFill>
        <p:spPr>
          <a:xfrm>
            <a:off x="4335628" y="1920240"/>
            <a:ext cx="3520440" cy="1881235"/>
          </a:xfrm>
          <a:prstGeom prst="rect">
            <a:avLst/>
          </a:prstGeom>
        </p:spPr>
      </p:pic>
      <p:sp>
        <p:nvSpPr>
          <p:cNvPr id="9" name="Text 5"/>
          <p:cNvSpPr/>
          <p:nvPr/>
        </p:nvSpPr>
        <p:spPr>
          <a:xfrm>
            <a:off x="4244188" y="3938635"/>
            <a:ext cx="3703320" cy="365760"/>
          </a:xfrm>
          <a:prstGeom prst="rect">
            <a:avLst/>
          </a:prstGeom>
          <a:noFill/>
          <a:ln/>
        </p:spPr>
        <p:txBody>
          <a:bodyPr wrap="square" lIns="0" tIns="0" rIns="0" bIns="0" rtlCol="0" anchor="ctr"/>
          <a:lstStyle/>
          <a:p>
            <a:pPr marL="0" indent="0" algn="ctr">
              <a:buNone/>
            </a:pPr>
            <a:r>
              <a:rPr lang="en-US" sz="1300" b="1" dirty="0">
                <a:solidFill>
                  <a:srgbClr val="1E2761"/>
                </a:solidFill>
                <a:latin typeface="Calibri" pitchFamily="34" charset="0"/>
                <a:ea typeface="Calibri" pitchFamily="34" charset="-122"/>
                <a:cs typeface="Calibri" pitchFamily="34" charset="-120"/>
              </a:rPr>
              <a:t>Borrowing Form</a:t>
            </a:r>
            <a:endParaRPr lang="en-US" sz="1300" dirty="0"/>
          </a:p>
        </p:txBody>
      </p:sp>
      <p:sp>
        <p:nvSpPr>
          <p:cNvPr id="10" name="Shape 6"/>
          <p:cNvSpPr/>
          <p:nvPr/>
        </p:nvSpPr>
        <p:spPr>
          <a:xfrm>
            <a:off x="7958023" y="1847088"/>
            <a:ext cx="3666744" cy="2027539"/>
          </a:xfrm>
          <a:prstGeom prst="roundRect">
            <a:avLst>
              <a:gd name="adj" fmla="val 2706"/>
            </a:avLst>
          </a:prstGeom>
          <a:solidFill>
            <a:srgbClr val="F5F7FC"/>
          </a:solidFill>
          <a:ln w="12700">
            <a:solidFill>
              <a:srgbClr val="CADCFC"/>
            </a:solidFill>
            <a:prstDash val="solid"/>
          </a:ln>
        </p:spPr>
      </p:sp>
      <p:pic>
        <p:nvPicPr>
          <p:cNvPr id="11" name="Image 2" descr="IMG_4776.jpeg"/>
          <p:cNvPicPr>
            <a:picLocks noChangeAspect="1"/>
          </p:cNvPicPr>
          <p:nvPr/>
        </p:nvPicPr>
        <p:blipFill>
          <a:blip r:embed="rId5"/>
          <a:stretch>
            <a:fillRect/>
          </a:stretch>
        </p:blipFill>
        <p:spPr>
          <a:xfrm>
            <a:off x="8031175" y="1920240"/>
            <a:ext cx="3520440" cy="1881235"/>
          </a:xfrm>
          <a:prstGeom prst="rect">
            <a:avLst/>
          </a:prstGeom>
        </p:spPr>
      </p:pic>
      <p:sp>
        <p:nvSpPr>
          <p:cNvPr id="12" name="Text 7"/>
          <p:cNvSpPr/>
          <p:nvPr/>
        </p:nvSpPr>
        <p:spPr>
          <a:xfrm>
            <a:off x="7939735" y="3938635"/>
            <a:ext cx="3703320" cy="365760"/>
          </a:xfrm>
          <a:prstGeom prst="rect">
            <a:avLst/>
          </a:prstGeom>
          <a:noFill/>
          <a:ln/>
        </p:spPr>
        <p:txBody>
          <a:bodyPr wrap="square" lIns="0" tIns="0" rIns="0" bIns="0" rtlCol="0" anchor="ctr"/>
          <a:lstStyle/>
          <a:p>
            <a:pPr marL="0" indent="0" algn="ctr">
              <a:buNone/>
            </a:pPr>
            <a:r>
              <a:rPr lang="en-US" sz="1300" b="1" dirty="0">
                <a:solidFill>
                  <a:srgbClr val="1E2761"/>
                </a:solidFill>
                <a:latin typeface="Calibri" pitchFamily="34" charset="0"/>
                <a:ea typeface="Calibri" pitchFamily="34" charset="-122"/>
                <a:cs typeface="Calibri" pitchFamily="34" charset="-120"/>
              </a:rPr>
              <a:t>Category Form</a:t>
            </a:r>
            <a:endParaRPr lang="en-US" sz="1300" dirty="0"/>
          </a:p>
        </p:txBody>
      </p:sp>
      <p:sp>
        <p:nvSpPr>
          <p:cNvPr id="13" name="Text 8"/>
          <p:cNvSpPr/>
          <p:nvPr/>
        </p:nvSpPr>
        <p:spPr>
          <a:xfrm>
            <a:off x="457200" y="6446520"/>
            <a:ext cx="7315200" cy="274320"/>
          </a:xfrm>
          <a:prstGeom prst="rect">
            <a:avLst/>
          </a:prstGeom>
          <a:noFill/>
          <a:ln/>
        </p:spPr>
        <p:txBody>
          <a:bodyPr wrap="square" lIns="0" tIns="0" rIns="0" bIns="0" rtlCol="0" anchor="ctr"/>
          <a:lstStyle/>
          <a:p>
            <a:pPr marL="0" indent="0" algn="l">
              <a:buNone/>
            </a:pPr>
            <a:r>
              <a:rPr lang="en-US" sz="900" dirty="0">
                <a:solidFill>
                  <a:srgbClr val="5A6178"/>
                </a:solidFill>
                <a:latin typeface="Calibri" pitchFamily="34" charset="0"/>
                <a:ea typeface="Calibri" pitchFamily="34" charset="-122"/>
                <a:cs typeface="Calibri" pitchFamily="34" charset="-120"/>
              </a:rPr>
              <a:t>Library System — Database Management Project</a:t>
            </a:r>
            <a:endParaRPr lang="en-US" sz="900" dirty="0"/>
          </a:p>
        </p:txBody>
      </p:sp>
      <p:sp>
        <p:nvSpPr>
          <p:cNvPr id="14" name="Text 9"/>
          <p:cNvSpPr/>
          <p:nvPr/>
        </p:nvSpPr>
        <p:spPr>
          <a:xfrm>
            <a:off x="11277295" y="6446520"/>
            <a:ext cx="457200" cy="274320"/>
          </a:xfrm>
          <a:prstGeom prst="rect">
            <a:avLst/>
          </a:prstGeom>
          <a:noFill/>
          <a:ln/>
        </p:spPr>
        <p:txBody>
          <a:bodyPr wrap="square" lIns="0" tIns="0" rIns="0" bIns="0" rtlCol="0" anchor="ctr"/>
          <a:lstStyle/>
          <a:p>
            <a:pPr marL="0" indent="0" algn="r">
              <a:buNone/>
            </a:pPr>
            <a:r>
              <a:rPr lang="en-US" sz="900" dirty="0">
                <a:solidFill>
                  <a:srgbClr val="5A6178"/>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0911535" cy="640080"/>
          </a:xfrm>
          <a:prstGeom prst="rect">
            <a:avLst/>
          </a:prstGeom>
          <a:noFill/>
          <a:ln/>
        </p:spPr>
        <p:txBody>
          <a:bodyPr wrap="square" lIns="0" tIns="0" rIns="0" bIns="0" rtlCol="0" anchor="ctr"/>
          <a:lstStyle/>
          <a:p>
            <a:pPr marL="0" indent="0" algn="l">
              <a:buNone/>
            </a:pPr>
            <a:r>
              <a:rPr lang="en-US" sz="3000" b="1" dirty="0">
                <a:solidFill>
                  <a:srgbClr val="1E2761"/>
                </a:solidFill>
                <a:latin typeface="Cambria" pitchFamily="34" charset="0"/>
                <a:ea typeface="Cambria" pitchFamily="34" charset="-122"/>
                <a:cs typeface="Cambria" pitchFamily="34" charset="-120"/>
              </a:rPr>
              <a:t>Sample Data &amp; Queries</a:t>
            </a:r>
            <a:endParaRPr lang="en-US" sz="3000" dirty="0"/>
          </a:p>
        </p:txBody>
      </p:sp>
      <p:sp>
        <p:nvSpPr>
          <p:cNvPr id="3" name="Text 1"/>
          <p:cNvSpPr/>
          <p:nvPr/>
        </p:nvSpPr>
        <p:spPr>
          <a:xfrm>
            <a:off x="640080" y="1024128"/>
            <a:ext cx="10911535" cy="320040"/>
          </a:xfrm>
          <a:prstGeom prst="rect">
            <a:avLst/>
          </a:prstGeom>
          <a:noFill/>
          <a:ln/>
        </p:spPr>
        <p:txBody>
          <a:bodyPr wrap="square" lIns="0" tIns="0" rIns="0" bIns="0" rtlCol="0" anchor="ctr"/>
          <a:lstStyle/>
          <a:p>
            <a:pPr marL="0" indent="0" algn="l">
              <a:buNone/>
            </a:pPr>
            <a:r>
              <a:rPr lang="en-US" sz="1300" i="1" dirty="0">
                <a:solidFill>
                  <a:srgbClr val="C9A227"/>
                </a:solidFill>
                <a:latin typeface="Calibri" pitchFamily="34" charset="0"/>
                <a:ea typeface="Calibri" pitchFamily="34" charset="-122"/>
                <a:cs typeface="Calibri" pitchFamily="34" charset="-120"/>
              </a:rPr>
              <a:t>Real Records from the Database</a:t>
            </a:r>
            <a:endParaRPr lang="en-US" sz="1300" dirty="0"/>
          </a:p>
        </p:txBody>
      </p:sp>
      <p:sp>
        <p:nvSpPr>
          <p:cNvPr id="4" name="Shape 2"/>
          <p:cNvSpPr/>
          <p:nvPr/>
        </p:nvSpPr>
        <p:spPr>
          <a:xfrm>
            <a:off x="566928" y="1801368"/>
            <a:ext cx="5404104" cy="2955941"/>
          </a:xfrm>
          <a:prstGeom prst="roundRect">
            <a:avLst>
              <a:gd name="adj" fmla="val 1856"/>
            </a:avLst>
          </a:prstGeom>
          <a:solidFill>
            <a:srgbClr val="F5F7FC"/>
          </a:solidFill>
          <a:ln w="12700">
            <a:solidFill>
              <a:srgbClr val="CADCFC"/>
            </a:solidFill>
            <a:prstDash val="solid"/>
          </a:ln>
        </p:spPr>
      </p:sp>
      <p:pic>
        <p:nvPicPr>
          <p:cNvPr id="5" name="Image 0" descr="IMG_4772.jpeg"/>
          <p:cNvPicPr>
            <a:picLocks noChangeAspect="1"/>
          </p:cNvPicPr>
          <p:nvPr/>
        </p:nvPicPr>
        <p:blipFill>
          <a:blip r:embed="rId3"/>
          <a:stretch>
            <a:fillRect/>
          </a:stretch>
        </p:blipFill>
        <p:spPr>
          <a:xfrm>
            <a:off x="640080" y="1874520"/>
            <a:ext cx="5257800" cy="2809637"/>
          </a:xfrm>
          <a:prstGeom prst="rect">
            <a:avLst/>
          </a:prstGeom>
        </p:spPr>
      </p:pic>
      <p:sp>
        <p:nvSpPr>
          <p:cNvPr id="6" name="Text 3"/>
          <p:cNvSpPr/>
          <p:nvPr/>
        </p:nvSpPr>
        <p:spPr>
          <a:xfrm>
            <a:off x="548640" y="4821317"/>
            <a:ext cx="5440680" cy="365760"/>
          </a:xfrm>
          <a:prstGeom prst="rect">
            <a:avLst/>
          </a:prstGeom>
          <a:noFill/>
          <a:ln/>
        </p:spPr>
        <p:txBody>
          <a:bodyPr wrap="square" lIns="0" tIns="0" rIns="0" bIns="0" rtlCol="0" anchor="ctr"/>
          <a:lstStyle/>
          <a:p>
            <a:pPr marL="0" indent="0" algn="ctr">
              <a:buNone/>
            </a:pPr>
            <a:r>
              <a:rPr lang="en-US" sz="1300" b="1" dirty="0">
                <a:solidFill>
                  <a:srgbClr val="1E2761"/>
                </a:solidFill>
                <a:latin typeface="Calibri" pitchFamily="34" charset="0"/>
                <a:ea typeface="Calibri" pitchFamily="34" charset="-122"/>
                <a:cs typeface="Calibri" pitchFamily="34" charset="-120"/>
              </a:rPr>
              <a:t>BOOK Table</a:t>
            </a:r>
            <a:endParaRPr lang="en-US" sz="1300" dirty="0"/>
          </a:p>
        </p:txBody>
      </p:sp>
      <p:sp>
        <p:nvSpPr>
          <p:cNvPr id="7" name="Shape 4"/>
          <p:cNvSpPr/>
          <p:nvPr/>
        </p:nvSpPr>
        <p:spPr>
          <a:xfrm>
            <a:off x="6190488" y="1801368"/>
            <a:ext cx="5404104" cy="2955941"/>
          </a:xfrm>
          <a:prstGeom prst="roundRect">
            <a:avLst>
              <a:gd name="adj" fmla="val 1856"/>
            </a:avLst>
          </a:prstGeom>
          <a:solidFill>
            <a:srgbClr val="F5F7FC"/>
          </a:solidFill>
          <a:ln w="12700">
            <a:solidFill>
              <a:srgbClr val="CADCFC"/>
            </a:solidFill>
            <a:prstDash val="solid"/>
          </a:ln>
        </p:spPr>
      </p:sp>
      <p:pic>
        <p:nvPicPr>
          <p:cNvPr id="8" name="Image 1" descr="IMG_4770.jpeg"/>
          <p:cNvPicPr>
            <a:picLocks noChangeAspect="1"/>
          </p:cNvPicPr>
          <p:nvPr/>
        </p:nvPicPr>
        <p:blipFill>
          <a:blip r:embed="rId4"/>
          <a:stretch>
            <a:fillRect/>
          </a:stretch>
        </p:blipFill>
        <p:spPr>
          <a:xfrm>
            <a:off x="6263640" y="1874520"/>
            <a:ext cx="5257800" cy="2809637"/>
          </a:xfrm>
          <a:prstGeom prst="rect">
            <a:avLst/>
          </a:prstGeom>
        </p:spPr>
      </p:pic>
      <p:sp>
        <p:nvSpPr>
          <p:cNvPr id="9" name="Text 5"/>
          <p:cNvSpPr/>
          <p:nvPr/>
        </p:nvSpPr>
        <p:spPr>
          <a:xfrm>
            <a:off x="6172200" y="4821317"/>
            <a:ext cx="5440680" cy="365760"/>
          </a:xfrm>
          <a:prstGeom prst="rect">
            <a:avLst/>
          </a:prstGeom>
          <a:noFill/>
          <a:ln/>
        </p:spPr>
        <p:txBody>
          <a:bodyPr wrap="square" lIns="0" tIns="0" rIns="0" bIns="0" rtlCol="0" anchor="ctr"/>
          <a:lstStyle/>
          <a:p>
            <a:pPr marL="0" indent="0" algn="ctr">
              <a:buNone/>
            </a:pPr>
            <a:r>
              <a:rPr lang="en-US" sz="1300" b="1" dirty="0">
                <a:solidFill>
                  <a:srgbClr val="1E2761"/>
                </a:solidFill>
                <a:latin typeface="Calibri" pitchFamily="34" charset="0"/>
                <a:ea typeface="Calibri" pitchFamily="34" charset="-122"/>
                <a:cs typeface="Calibri" pitchFamily="34" charset="-120"/>
              </a:rPr>
              <a:t>BORROWER Table</a:t>
            </a:r>
            <a:endParaRPr lang="en-US" sz="1300" dirty="0"/>
          </a:p>
        </p:txBody>
      </p:sp>
      <p:sp>
        <p:nvSpPr>
          <p:cNvPr id="10" name="Text 6"/>
          <p:cNvSpPr/>
          <p:nvPr/>
        </p:nvSpPr>
        <p:spPr>
          <a:xfrm>
            <a:off x="640080" y="5806440"/>
            <a:ext cx="10911535" cy="548640"/>
          </a:xfrm>
          <a:prstGeom prst="rect">
            <a:avLst/>
          </a:prstGeom>
          <a:noFill/>
          <a:ln/>
        </p:spPr>
        <p:txBody>
          <a:bodyPr wrap="square" lIns="0" tIns="0" rIns="0" bIns="0" rtlCol="0" anchor="ctr"/>
          <a:lstStyle/>
          <a:p>
            <a:pPr marL="0" indent="0" algn="l">
              <a:lnSpc>
                <a:spcPct val="130000"/>
              </a:lnSpc>
              <a:buNone/>
            </a:pPr>
            <a:r>
              <a:rPr lang="en-US" sz="1250" dirty="0">
                <a:solidFill>
                  <a:srgbClr val="5A6178"/>
                </a:solidFill>
                <a:latin typeface="Calibri" pitchFamily="34" charset="0"/>
                <a:ea typeface="Calibri" pitchFamily="34" charset="-122"/>
                <a:cs typeface="Calibri" pitchFamily="34" charset="-120"/>
              </a:rPr>
              <a:t>The sample data above shows how books and borrowers are registered. Queries are used to retrieve specific information, such as books in a given category or overdue borrowing transactions.</a:t>
            </a:r>
            <a:endParaRPr lang="en-US" sz="1250" dirty="0"/>
          </a:p>
        </p:txBody>
      </p:sp>
      <p:sp>
        <p:nvSpPr>
          <p:cNvPr id="11" name="Text 7"/>
          <p:cNvSpPr/>
          <p:nvPr/>
        </p:nvSpPr>
        <p:spPr>
          <a:xfrm>
            <a:off x="457200" y="6446520"/>
            <a:ext cx="7315200" cy="274320"/>
          </a:xfrm>
          <a:prstGeom prst="rect">
            <a:avLst/>
          </a:prstGeom>
          <a:noFill/>
          <a:ln/>
        </p:spPr>
        <p:txBody>
          <a:bodyPr wrap="square" lIns="0" tIns="0" rIns="0" bIns="0" rtlCol="0" anchor="ctr"/>
          <a:lstStyle/>
          <a:p>
            <a:pPr marL="0" indent="0" algn="l">
              <a:buNone/>
            </a:pPr>
            <a:r>
              <a:rPr lang="en-US" sz="900" dirty="0">
                <a:solidFill>
                  <a:srgbClr val="5A6178"/>
                </a:solidFill>
                <a:latin typeface="Calibri" pitchFamily="34" charset="0"/>
                <a:ea typeface="Calibri" pitchFamily="34" charset="-122"/>
                <a:cs typeface="Calibri" pitchFamily="34" charset="-120"/>
              </a:rPr>
              <a:t>Library System — Database Management Project</a:t>
            </a:r>
            <a:endParaRPr lang="en-US" sz="900" dirty="0"/>
          </a:p>
        </p:txBody>
      </p:sp>
      <p:sp>
        <p:nvSpPr>
          <p:cNvPr id="12" name="Text 8"/>
          <p:cNvSpPr/>
          <p:nvPr/>
        </p:nvSpPr>
        <p:spPr>
          <a:xfrm>
            <a:off x="11277295" y="6446520"/>
            <a:ext cx="457200" cy="274320"/>
          </a:xfrm>
          <a:prstGeom prst="rect">
            <a:avLst/>
          </a:prstGeom>
          <a:noFill/>
          <a:ln/>
        </p:spPr>
        <p:txBody>
          <a:bodyPr wrap="square" lIns="0" tIns="0" rIns="0" bIns="0" rtlCol="0" anchor="ctr"/>
          <a:lstStyle/>
          <a:p>
            <a:pPr marL="0" indent="0" algn="r">
              <a:buNone/>
            </a:pPr>
            <a:r>
              <a:rPr lang="en-US" sz="900" dirty="0">
                <a:solidFill>
                  <a:srgbClr val="5A6178"/>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41B4D"/>
        </a:solidFill>
        <a:effectLst/>
      </p:bgPr>
    </p:bg>
    <p:spTree>
      <p:nvGrpSpPr>
        <p:cNvPr id="1" name=""/>
        <p:cNvGrpSpPr/>
        <p:nvPr/>
      </p:nvGrpSpPr>
      <p:grpSpPr>
        <a:xfrm>
          <a:off x="0" y="0"/>
          <a:ext cx="0" cy="0"/>
          <a:chOff x="0" y="0"/>
          <a:chExt cx="0" cy="0"/>
        </a:xfrm>
      </p:grpSpPr>
      <p:sp>
        <p:nvSpPr>
          <p:cNvPr id="2" name="Shape 0"/>
          <p:cNvSpPr/>
          <p:nvPr/>
        </p:nvSpPr>
        <p:spPr>
          <a:xfrm>
            <a:off x="10180015" y="-1463040"/>
            <a:ext cx="3840480" cy="3840480"/>
          </a:xfrm>
          <a:prstGeom prst="ellipse">
            <a:avLst/>
          </a:prstGeom>
          <a:solidFill>
            <a:srgbClr val="CADCFC">
              <a:alpha val="8000"/>
            </a:srgbClr>
          </a:solidFill>
          <a:ln/>
        </p:spPr>
      </p:sp>
      <p:sp>
        <p:nvSpPr>
          <p:cNvPr id="3" name="Shape 1"/>
          <p:cNvSpPr/>
          <p:nvPr/>
        </p:nvSpPr>
        <p:spPr>
          <a:xfrm>
            <a:off x="-1280160" y="5029200"/>
            <a:ext cx="2926080" cy="2926080"/>
          </a:xfrm>
          <a:prstGeom prst="ellipse">
            <a:avLst/>
          </a:prstGeom>
          <a:solidFill>
            <a:srgbClr val="CADCFC">
              <a:alpha val="8000"/>
            </a:srgbClr>
          </a:solidFill>
          <a:ln/>
        </p:spPr>
      </p:sp>
      <p:sp>
        <p:nvSpPr>
          <p:cNvPr id="4" name="Text 2"/>
          <p:cNvSpPr/>
          <p:nvPr/>
        </p:nvSpPr>
        <p:spPr>
          <a:xfrm>
            <a:off x="640080" y="457200"/>
            <a:ext cx="10911535" cy="640080"/>
          </a:xfrm>
          <a:prstGeom prst="rect">
            <a:avLst/>
          </a:prstGeom>
          <a:noFill/>
          <a:ln/>
        </p:spPr>
        <p:txBody>
          <a:bodyPr wrap="square" lIns="0" tIns="0" rIns="0" bIns="0" rtlCol="0" anchor="ctr"/>
          <a:lstStyle/>
          <a:p>
            <a:pPr marL="0" indent="0" algn="l">
              <a:buNone/>
            </a:pPr>
            <a:r>
              <a:rPr lang="en-US" sz="3000" b="1" dirty="0">
                <a:solidFill>
                  <a:srgbClr val="FFFFFF"/>
                </a:solidFill>
                <a:latin typeface="Cambria" pitchFamily="34" charset="0"/>
                <a:ea typeface="Cambria" pitchFamily="34" charset="-122"/>
                <a:cs typeface="Cambria" pitchFamily="34" charset="-120"/>
              </a:rPr>
              <a:t>Key Features</a:t>
            </a:r>
            <a:endParaRPr lang="en-US" sz="3000" dirty="0"/>
          </a:p>
        </p:txBody>
      </p:sp>
      <p:sp>
        <p:nvSpPr>
          <p:cNvPr id="5" name="Text 3"/>
          <p:cNvSpPr/>
          <p:nvPr/>
        </p:nvSpPr>
        <p:spPr>
          <a:xfrm>
            <a:off x="640080" y="1024128"/>
            <a:ext cx="10911535" cy="320040"/>
          </a:xfrm>
          <a:prstGeom prst="rect">
            <a:avLst/>
          </a:prstGeom>
          <a:noFill/>
          <a:ln/>
        </p:spPr>
        <p:txBody>
          <a:bodyPr wrap="square" lIns="0" tIns="0" rIns="0" bIns="0" rtlCol="0" anchor="ctr"/>
          <a:lstStyle/>
          <a:p>
            <a:pPr marL="0" indent="0" algn="l">
              <a:buNone/>
            </a:pPr>
            <a:r>
              <a:rPr lang="en-US" sz="1300" i="1" dirty="0">
                <a:solidFill>
                  <a:srgbClr val="C9A227"/>
                </a:solidFill>
                <a:latin typeface="Calibri" pitchFamily="34" charset="0"/>
                <a:ea typeface="Calibri" pitchFamily="34" charset="-122"/>
                <a:cs typeface="Calibri" pitchFamily="34" charset="-120"/>
              </a:rPr>
              <a:t>What Makes This System Effective</a:t>
            </a:r>
            <a:endParaRPr lang="en-US" sz="1300" dirty="0"/>
          </a:p>
        </p:txBody>
      </p:sp>
      <p:sp>
        <p:nvSpPr>
          <p:cNvPr id="6" name="Shape 4"/>
          <p:cNvSpPr/>
          <p:nvPr/>
        </p:nvSpPr>
        <p:spPr>
          <a:xfrm>
            <a:off x="640080" y="1874520"/>
            <a:ext cx="10911535" cy="713232"/>
          </a:xfrm>
          <a:prstGeom prst="roundRect">
            <a:avLst>
              <a:gd name="adj" fmla="val 10256"/>
            </a:avLst>
          </a:prstGeom>
          <a:solidFill>
            <a:srgbClr val="20296B"/>
          </a:solidFill>
          <a:ln/>
        </p:spPr>
      </p:sp>
      <p:sp>
        <p:nvSpPr>
          <p:cNvPr id="7" name="Shape 5"/>
          <p:cNvSpPr/>
          <p:nvPr/>
        </p:nvSpPr>
        <p:spPr>
          <a:xfrm>
            <a:off x="822960" y="2093976"/>
            <a:ext cx="274320" cy="274320"/>
          </a:xfrm>
          <a:prstGeom prst="ellipse">
            <a:avLst/>
          </a:prstGeom>
          <a:solidFill>
            <a:srgbClr val="C9A227"/>
          </a:solidFill>
          <a:ln/>
        </p:spPr>
      </p:sp>
      <p:sp>
        <p:nvSpPr>
          <p:cNvPr id="8" name="Text 6"/>
          <p:cNvSpPr/>
          <p:nvPr/>
        </p:nvSpPr>
        <p:spPr>
          <a:xfrm>
            <a:off x="1280160" y="1874520"/>
            <a:ext cx="9951415" cy="713232"/>
          </a:xfrm>
          <a:prstGeom prst="rect">
            <a:avLst/>
          </a:prstGeom>
          <a:noFill/>
          <a:ln/>
        </p:spPr>
        <p:txBody>
          <a:bodyPr wrap="square" lIns="0" tIns="0" rIns="0" bIns="0" rtlCol="0" anchor="ctr"/>
          <a:lstStyle/>
          <a:p>
            <a:pPr marL="0" indent="0" algn="l">
              <a:buNone/>
            </a:pPr>
            <a:r>
              <a:rPr lang="en-US" sz="1450" dirty="0">
                <a:solidFill>
                  <a:srgbClr val="FFFFFF"/>
                </a:solidFill>
                <a:latin typeface="Calibri" pitchFamily="34" charset="0"/>
                <a:ea typeface="Calibri" pitchFamily="34" charset="-122"/>
                <a:cs typeface="Calibri" pitchFamily="34" charset="-120"/>
              </a:rPr>
              <a:t>Automatic linking between books and borrowers through the Borrowing table</a:t>
            </a:r>
            <a:endParaRPr lang="en-US" sz="1450" dirty="0"/>
          </a:p>
        </p:txBody>
      </p:sp>
      <p:sp>
        <p:nvSpPr>
          <p:cNvPr id="9" name="Shape 7"/>
          <p:cNvSpPr/>
          <p:nvPr/>
        </p:nvSpPr>
        <p:spPr>
          <a:xfrm>
            <a:off x="640080" y="2734056"/>
            <a:ext cx="10911535" cy="713232"/>
          </a:xfrm>
          <a:prstGeom prst="roundRect">
            <a:avLst>
              <a:gd name="adj" fmla="val 10256"/>
            </a:avLst>
          </a:prstGeom>
          <a:solidFill>
            <a:srgbClr val="20296B"/>
          </a:solidFill>
          <a:ln/>
        </p:spPr>
      </p:sp>
      <p:sp>
        <p:nvSpPr>
          <p:cNvPr id="10" name="Shape 8"/>
          <p:cNvSpPr/>
          <p:nvPr/>
        </p:nvSpPr>
        <p:spPr>
          <a:xfrm>
            <a:off x="822960" y="2953512"/>
            <a:ext cx="274320" cy="274320"/>
          </a:xfrm>
          <a:prstGeom prst="ellipse">
            <a:avLst/>
          </a:prstGeom>
          <a:solidFill>
            <a:srgbClr val="C9A227"/>
          </a:solidFill>
          <a:ln/>
        </p:spPr>
      </p:sp>
      <p:sp>
        <p:nvSpPr>
          <p:cNvPr id="11" name="Text 9"/>
          <p:cNvSpPr/>
          <p:nvPr/>
        </p:nvSpPr>
        <p:spPr>
          <a:xfrm>
            <a:off x="1280160" y="2734056"/>
            <a:ext cx="9951415" cy="713232"/>
          </a:xfrm>
          <a:prstGeom prst="rect">
            <a:avLst/>
          </a:prstGeom>
          <a:noFill/>
          <a:ln/>
        </p:spPr>
        <p:txBody>
          <a:bodyPr wrap="square" lIns="0" tIns="0" rIns="0" bIns="0" rtlCol="0" anchor="ctr"/>
          <a:lstStyle/>
          <a:p>
            <a:pPr marL="0" indent="0" algn="l">
              <a:buNone/>
            </a:pPr>
            <a:r>
              <a:rPr lang="en-US" sz="1450" dirty="0">
                <a:solidFill>
                  <a:srgbClr val="FFFFFF"/>
                </a:solidFill>
                <a:latin typeface="Calibri" pitchFamily="34" charset="0"/>
                <a:ea typeface="Calibri" pitchFamily="34" charset="-122"/>
                <a:cs typeface="Calibri" pitchFamily="34" charset="-120"/>
              </a:rPr>
              <a:t>Precise tracking of due dates and actual return dates for every transaction</a:t>
            </a:r>
            <a:endParaRPr lang="en-US" sz="1450" dirty="0"/>
          </a:p>
        </p:txBody>
      </p:sp>
      <p:sp>
        <p:nvSpPr>
          <p:cNvPr id="12" name="Shape 10"/>
          <p:cNvSpPr/>
          <p:nvPr/>
        </p:nvSpPr>
        <p:spPr>
          <a:xfrm>
            <a:off x="640080" y="3593592"/>
            <a:ext cx="10911535" cy="713232"/>
          </a:xfrm>
          <a:prstGeom prst="roundRect">
            <a:avLst>
              <a:gd name="adj" fmla="val 10256"/>
            </a:avLst>
          </a:prstGeom>
          <a:solidFill>
            <a:srgbClr val="20296B"/>
          </a:solidFill>
          <a:ln/>
        </p:spPr>
      </p:sp>
      <p:sp>
        <p:nvSpPr>
          <p:cNvPr id="13" name="Shape 11"/>
          <p:cNvSpPr/>
          <p:nvPr/>
        </p:nvSpPr>
        <p:spPr>
          <a:xfrm>
            <a:off x="822960" y="3813048"/>
            <a:ext cx="274320" cy="274320"/>
          </a:xfrm>
          <a:prstGeom prst="ellipse">
            <a:avLst/>
          </a:prstGeom>
          <a:solidFill>
            <a:srgbClr val="C9A227"/>
          </a:solidFill>
          <a:ln/>
        </p:spPr>
      </p:sp>
      <p:sp>
        <p:nvSpPr>
          <p:cNvPr id="14" name="Text 12"/>
          <p:cNvSpPr/>
          <p:nvPr/>
        </p:nvSpPr>
        <p:spPr>
          <a:xfrm>
            <a:off x="1280160" y="3593592"/>
            <a:ext cx="9951415" cy="713232"/>
          </a:xfrm>
          <a:prstGeom prst="rect">
            <a:avLst/>
          </a:prstGeom>
          <a:noFill/>
          <a:ln/>
        </p:spPr>
        <p:txBody>
          <a:bodyPr wrap="square" lIns="0" tIns="0" rIns="0" bIns="0" rtlCol="0" anchor="ctr"/>
          <a:lstStyle/>
          <a:p>
            <a:pPr marL="0" indent="0" algn="l">
              <a:buNone/>
            </a:pPr>
            <a:r>
              <a:rPr lang="en-US" sz="1450" dirty="0">
                <a:solidFill>
                  <a:srgbClr val="FFFFFF"/>
                </a:solidFill>
                <a:latin typeface="Calibri" pitchFamily="34" charset="0"/>
                <a:ea typeface="Calibri" pitchFamily="34" charset="-122"/>
                <a:cs typeface="Calibri" pitchFamily="34" charset="-120"/>
              </a:rPr>
              <a:t>Flexible book categorization (science, history, literature...) that can grow</a:t>
            </a:r>
            <a:endParaRPr lang="en-US" sz="1450" dirty="0"/>
          </a:p>
        </p:txBody>
      </p:sp>
      <p:sp>
        <p:nvSpPr>
          <p:cNvPr id="15" name="Shape 13"/>
          <p:cNvSpPr/>
          <p:nvPr/>
        </p:nvSpPr>
        <p:spPr>
          <a:xfrm>
            <a:off x="640080" y="4453128"/>
            <a:ext cx="10911535" cy="713232"/>
          </a:xfrm>
          <a:prstGeom prst="roundRect">
            <a:avLst>
              <a:gd name="adj" fmla="val 10256"/>
            </a:avLst>
          </a:prstGeom>
          <a:solidFill>
            <a:srgbClr val="20296B"/>
          </a:solidFill>
          <a:ln/>
        </p:spPr>
      </p:sp>
      <p:sp>
        <p:nvSpPr>
          <p:cNvPr id="16" name="Shape 14"/>
          <p:cNvSpPr/>
          <p:nvPr/>
        </p:nvSpPr>
        <p:spPr>
          <a:xfrm>
            <a:off x="822960" y="4672584"/>
            <a:ext cx="274320" cy="274320"/>
          </a:xfrm>
          <a:prstGeom prst="ellipse">
            <a:avLst/>
          </a:prstGeom>
          <a:solidFill>
            <a:srgbClr val="C9A227"/>
          </a:solidFill>
          <a:ln/>
        </p:spPr>
      </p:sp>
      <p:sp>
        <p:nvSpPr>
          <p:cNvPr id="17" name="Text 15"/>
          <p:cNvSpPr/>
          <p:nvPr/>
        </p:nvSpPr>
        <p:spPr>
          <a:xfrm>
            <a:off x="1280160" y="4453128"/>
            <a:ext cx="9951415" cy="713232"/>
          </a:xfrm>
          <a:prstGeom prst="rect">
            <a:avLst/>
          </a:prstGeom>
          <a:noFill/>
          <a:ln/>
        </p:spPr>
        <p:txBody>
          <a:bodyPr wrap="square" lIns="0" tIns="0" rIns="0" bIns="0" rtlCol="0" anchor="ctr"/>
          <a:lstStyle/>
          <a:p>
            <a:pPr marL="0" indent="0" algn="l">
              <a:buNone/>
            </a:pPr>
            <a:r>
              <a:rPr lang="en-US" sz="1450" dirty="0">
                <a:solidFill>
                  <a:srgbClr val="FFFFFF"/>
                </a:solidFill>
                <a:latin typeface="Calibri" pitchFamily="34" charset="0"/>
                <a:ea typeface="Calibri" pitchFamily="34" charset="-122"/>
                <a:cs typeface="Calibri" pitchFamily="34" charset="-120"/>
              </a:rPr>
              <a:t>Easy-to-use forms for entering and editing data</a:t>
            </a:r>
            <a:endParaRPr lang="en-US" sz="1450" dirty="0"/>
          </a:p>
        </p:txBody>
      </p:sp>
      <p:sp>
        <p:nvSpPr>
          <p:cNvPr id="18" name="Shape 16"/>
          <p:cNvSpPr/>
          <p:nvPr/>
        </p:nvSpPr>
        <p:spPr>
          <a:xfrm>
            <a:off x="640080" y="5312664"/>
            <a:ext cx="10911535" cy="713232"/>
          </a:xfrm>
          <a:prstGeom prst="roundRect">
            <a:avLst>
              <a:gd name="adj" fmla="val 10256"/>
            </a:avLst>
          </a:prstGeom>
          <a:solidFill>
            <a:srgbClr val="20296B"/>
          </a:solidFill>
          <a:ln/>
        </p:spPr>
      </p:sp>
      <p:sp>
        <p:nvSpPr>
          <p:cNvPr id="19" name="Shape 17"/>
          <p:cNvSpPr/>
          <p:nvPr/>
        </p:nvSpPr>
        <p:spPr>
          <a:xfrm>
            <a:off x="822960" y="5532120"/>
            <a:ext cx="274320" cy="274320"/>
          </a:xfrm>
          <a:prstGeom prst="ellipse">
            <a:avLst/>
          </a:prstGeom>
          <a:solidFill>
            <a:srgbClr val="C9A227"/>
          </a:solidFill>
          <a:ln/>
        </p:spPr>
      </p:sp>
      <p:sp>
        <p:nvSpPr>
          <p:cNvPr id="20" name="Text 18"/>
          <p:cNvSpPr/>
          <p:nvPr/>
        </p:nvSpPr>
        <p:spPr>
          <a:xfrm>
            <a:off x="1280160" y="5312664"/>
            <a:ext cx="9951415" cy="713232"/>
          </a:xfrm>
          <a:prstGeom prst="rect">
            <a:avLst/>
          </a:prstGeom>
          <a:noFill/>
          <a:ln/>
        </p:spPr>
        <p:txBody>
          <a:bodyPr wrap="square" lIns="0" tIns="0" rIns="0" bIns="0" rtlCol="0" anchor="ctr"/>
          <a:lstStyle/>
          <a:p>
            <a:pPr marL="0" indent="0" algn="l">
              <a:buNone/>
            </a:pPr>
            <a:r>
              <a:rPr lang="en-US" sz="1450" dirty="0">
                <a:solidFill>
                  <a:srgbClr val="FFFFFF"/>
                </a:solidFill>
                <a:latin typeface="Calibri" pitchFamily="34" charset="0"/>
                <a:ea typeface="Calibri" pitchFamily="34" charset="-122"/>
                <a:cs typeface="Calibri" pitchFamily="34" charset="-120"/>
              </a:rPr>
              <a:t>Ready-made queries for fast, accurate data retrieval</a:t>
            </a:r>
            <a:endParaRPr lang="en-US" sz="1450" dirty="0"/>
          </a:p>
        </p:txBody>
      </p:sp>
      <p:sp>
        <p:nvSpPr>
          <p:cNvPr id="21" name="Text 19"/>
          <p:cNvSpPr/>
          <p:nvPr/>
        </p:nvSpPr>
        <p:spPr>
          <a:xfrm>
            <a:off x="457200" y="6446520"/>
            <a:ext cx="7315200" cy="274320"/>
          </a:xfrm>
          <a:prstGeom prst="rect">
            <a:avLst/>
          </a:prstGeom>
          <a:noFill/>
          <a:ln/>
        </p:spPr>
        <p:txBody>
          <a:bodyPr wrap="square" lIns="0" tIns="0" rIns="0" bIns="0" rtlCol="0" anchor="ctr"/>
          <a:lstStyle/>
          <a:p>
            <a:pPr marL="0" indent="0" algn="l">
              <a:buNone/>
            </a:pPr>
            <a:r>
              <a:rPr lang="en-US" sz="900" dirty="0">
                <a:solidFill>
                  <a:srgbClr val="8A93B8"/>
                </a:solidFill>
                <a:latin typeface="Calibri" pitchFamily="34" charset="0"/>
                <a:ea typeface="Calibri" pitchFamily="34" charset="-122"/>
                <a:cs typeface="Calibri" pitchFamily="34" charset="-120"/>
              </a:rPr>
              <a:t>Library System — Database Management Project</a:t>
            </a:r>
            <a:endParaRPr lang="en-US" sz="900" dirty="0"/>
          </a:p>
        </p:txBody>
      </p:sp>
      <p:sp>
        <p:nvSpPr>
          <p:cNvPr id="22" name="Text 20"/>
          <p:cNvSpPr/>
          <p:nvPr/>
        </p:nvSpPr>
        <p:spPr>
          <a:xfrm>
            <a:off x="11277295" y="6446520"/>
            <a:ext cx="457200" cy="274320"/>
          </a:xfrm>
          <a:prstGeom prst="rect">
            <a:avLst/>
          </a:prstGeom>
          <a:noFill/>
          <a:ln/>
        </p:spPr>
        <p:txBody>
          <a:bodyPr wrap="square" lIns="0" tIns="0" rIns="0" bIns="0" rtlCol="0" anchor="ctr"/>
          <a:lstStyle/>
          <a:p>
            <a:pPr marL="0" indent="0" algn="r">
              <a:buNone/>
            </a:pPr>
            <a:r>
              <a:rPr lang="en-US" sz="900" dirty="0">
                <a:solidFill>
                  <a:srgbClr val="8A93B8"/>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10180015" y="-1463040"/>
            <a:ext cx="3840480" cy="3840480"/>
          </a:xfrm>
          <a:prstGeom prst="ellipse">
            <a:avLst/>
          </a:prstGeom>
          <a:solidFill>
            <a:srgbClr val="FFFFFF">
              <a:alpha val="6000"/>
            </a:srgbClr>
          </a:solidFill>
          <a:ln/>
        </p:spPr>
      </p:sp>
      <p:sp>
        <p:nvSpPr>
          <p:cNvPr id="3" name="Shape 1"/>
          <p:cNvSpPr/>
          <p:nvPr/>
        </p:nvSpPr>
        <p:spPr>
          <a:xfrm>
            <a:off x="-1280160" y="5029200"/>
            <a:ext cx="2926080" cy="2926080"/>
          </a:xfrm>
          <a:prstGeom prst="ellipse">
            <a:avLst/>
          </a:prstGeom>
          <a:solidFill>
            <a:srgbClr val="FFFFFF">
              <a:alpha val="6000"/>
            </a:srgbClr>
          </a:solidFill>
          <a:ln/>
        </p:spPr>
      </p:sp>
      <p:sp>
        <p:nvSpPr>
          <p:cNvPr id="4" name="Shape 2"/>
          <p:cNvSpPr/>
          <p:nvPr/>
        </p:nvSpPr>
        <p:spPr>
          <a:xfrm>
            <a:off x="5181448" y="2788920"/>
            <a:ext cx="1828800" cy="0"/>
          </a:xfrm>
          <a:prstGeom prst="line">
            <a:avLst/>
          </a:prstGeom>
          <a:noFill/>
          <a:ln w="19050">
            <a:solidFill>
              <a:srgbClr val="C9A227"/>
            </a:solidFill>
            <a:prstDash val="solid"/>
          </a:ln>
        </p:spPr>
      </p:sp>
      <p:sp>
        <p:nvSpPr>
          <p:cNvPr id="5" name="Text 3"/>
          <p:cNvSpPr/>
          <p:nvPr/>
        </p:nvSpPr>
        <p:spPr>
          <a:xfrm>
            <a:off x="0" y="2651760"/>
            <a:ext cx="12191695" cy="914400"/>
          </a:xfrm>
          <a:prstGeom prst="rect">
            <a:avLst/>
          </a:prstGeom>
          <a:noFill/>
          <a:ln/>
        </p:spPr>
        <p:txBody>
          <a:bodyPr wrap="square" lIns="0" tIns="0" rIns="0" bIns="0" rtlCol="0" anchor="ctr"/>
          <a:lstStyle/>
          <a:p>
            <a:pPr marL="0" indent="0" algn="ctr">
              <a:buNone/>
            </a:pPr>
            <a:r>
              <a:rPr lang="en-US" sz="5000" b="1" dirty="0">
                <a:solidFill>
                  <a:srgbClr val="FFFFFF"/>
                </a:solidFill>
                <a:latin typeface="Cambria" pitchFamily="34" charset="0"/>
                <a:ea typeface="Cambria" pitchFamily="34" charset="-122"/>
                <a:cs typeface="Cambria" pitchFamily="34" charset="-120"/>
              </a:rPr>
              <a:t>Thank You</a:t>
            </a:r>
            <a:endParaRPr lang="en-US" sz="5000" dirty="0"/>
          </a:p>
        </p:txBody>
      </p:sp>
      <p:sp>
        <p:nvSpPr>
          <p:cNvPr id="6" name="Text 4"/>
          <p:cNvSpPr/>
          <p:nvPr/>
        </p:nvSpPr>
        <p:spPr>
          <a:xfrm>
            <a:off x="0" y="3520440"/>
            <a:ext cx="12191695" cy="365760"/>
          </a:xfrm>
          <a:prstGeom prst="rect">
            <a:avLst/>
          </a:prstGeom>
          <a:noFill/>
          <a:ln/>
        </p:spPr>
        <p:txBody>
          <a:bodyPr wrap="square" lIns="0" tIns="0" rIns="0" bIns="0" rtlCol="0" anchor="ctr"/>
          <a:lstStyle/>
          <a:p>
            <a:pPr marL="0" indent="0" algn="ctr">
              <a:buNone/>
            </a:pPr>
            <a:r>
              <a:rPr lang="en-US" sz="1400" dirty="0">
                <a:solidFill>
                  <a:srgbClr val="CADCFC"/>
                </a:solidFill>
                <a:latin typeface="Calibri" pitchFamily="34" charset="0"/>
                <a:ea typeface="Calibri" pitchFamily="34" charset="-122"/>
                <a:cs typeface="Calibri" pitchFamily="34" charset="-120"/>
              </a:rPr>
              <a:t>Questions &amp; Discussion</a:t>
            </a:r>
            <a:endParaRPr lang="en-US" sz="1400" dirty="0"/>
          </a:p>
        </p:txBody>
      </p:sp>
      <p:sp>
        <p:nvSpPr>
          <p:cNvPr id="7" name="Text 5"/>
          <p:cNvSpPr/>
          <p:nvPr/>
        </p:nvSpPr>
        <p:spPr>
          <a:xfrm>
            <a:off x="0" y="5852160"/>
            <a:ext cx="12191695" cy="365760"/>
          </a:xfrm>
          <a:prstGeom prst="rect">
            <a:avLst/>
          </a:prstGeom>
          <a:noFill/>
          <a:ln/>
        </p:spPr>
        <p:txBody>
          <a:bodyPr wrap="square" lIns="0" tIns="0" rIns="0" bIns="0" rtlCol="0" anchor="ctr"/>
          <a:lstStyle/>
          <a:p>
            <a:pPr marL="0" indent="0" algn="ctr">
              <a:buNone/>
            </a:pPr>
            <a:r>
              <a:rPr lang="en-US" sz="1200" dirty="0">
                <a:solidFill>
                  <a:srgbClr val="9AA6D6"/>
                </a:solidFill>
                <a:latin typeface="Calibri" pitchFamily="34" charset="0"/>
                <a:ea typeface="Calibri" pitchFamily="34" charset="-122"/>
                <a:cs typeface="Calibri" pitchFamily="34" charset="-120"/>
              </a:rPr>
              <a:t>Aseel Alanazi  —  Department of Computer Science, University of Hail</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نسق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519</Words>
  <Application>Microsoft Office PowerPoint</Application>
  <PresentationFormat>شاشة عريضة</PresentationFormat>
  <Paragraphs>99</Paragraphs>
  <Slides>10</Slides>
  <Notes>10</Notes>
  <HiddenSlides>0</HiddenSlides>
  <MMClips>0</MMClips>
  <ScaleCrop>false</ScaleCrop>
  <HeadingPairs>
    <vt:vector size="6" baseType="variant">
      <vt:variant>
        <vt:lpstr>الخطوط المستخدمة</vt:lpstr>
      </vt:variant>
      <vt:variant>
        <vt:i4>3</vt:i4>
      </vt:variant>
      <vt:variant>
        <vt:lpstr>نسق</vt:lpstr>
      </vt:variant>
      <vt:variant>
        <vt:i4>1</vt:i4>
      </vt:variant>
      <vt:variant>
        <vt:lpstr>عناوين الشرائح</vt:lpstr>
      </vt:variant>
      <vt:variant>
        <vt:i4>10</vt:i4>
      </vt:variant>
    </vt:vector>
  </HeadingPairs>
  <TitlesOfParts>
    <vt:vector size="14" baseType="lpstr">
      <vt:lpstr>Arial</vt:lpstr>
      <vt:lpstr>Calibri</vt:lpstr>
      <vt:lpstr>Cambria</vt:lpstr>
      <vt:lpstr>Office Theme</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اسيل العنزي</cp:lastModifiedBy>
  <cp:revision>1</cp:revision>
  <dcterms:created xsi:type="dcterms:W3CDTF">2026-07-25T14:23:08Z</dcterms:created>
  <dcterms:modified xsi:type="dcterms:W3CDTF">2026-07-25T15:47:13Z</dcterms:modified>
</cp:coreProperties>
</file>